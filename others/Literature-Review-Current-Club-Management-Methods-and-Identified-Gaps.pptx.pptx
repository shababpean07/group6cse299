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19"/>
    </p:embeddedFont>
    <p:embeddedFont>
      <p:font typeface="Noto Sans" charset="1" panose="020B05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3236414"/>
            <a:ext cx="16303523" cy="1829095"/>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Literature Review: Current Club Management Methods and Identified Gaps</a:t>
            </a:r>
          </a:p>
        </p:txBody>
      </p:sp>
      <p:sp>
        <p:nvSpPr>
          <p:cNvPr name="TextBox 7" id="7"/>
          <p:cNvSpPr txBox="true"/>
          <p:nvPr/>
        </p:nvSpPr>
        <p:spPr>
          <a:xfrm rot="0">
            <a:off x="992238" y="5546827"/>
            <a:ext cx="1630352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North South University has a rich co-curricular scene, but club management is fragmented across social media, physical marketing, and manual spreadsheets. This review summarizes these decentralized methods, highlights common drawbacks, and outlines how the proposed NSU ClubHub can address the gaps.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703014"/>
            <a:ext cx="11404102"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Fragmented Current Landscape</a:t>
            </a:r>
          </a:p>
        </p:txBody>
      </p:sp>
      <p:sp>
        <p:nvSpPr>
          <p:cNvPr name="TextBox 7" id="7"/>
          <p:cNvSpPr txBox="true"/>
          <p:nvPr/>
        </p:nvSpPr>
        <p:spPr>
          <a:xfrm rot="0">
            <a:off x="992238" y="4127449"/>
            <a:ext cx="1630352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North South University's club management relies on disconnected, manual processes that create barriers for student engagement and administrative efficiency.</a:t>
            </a:r>
          </a:p>
        </p:txBody>
      </p:sp>
      <p:grpSp>
        <p:nvGrpSpPr>
          <p:cNvPr name="Group 8" id="8"/>
          <p:cNvGrpSpPr/>
          <p:nvPr/>
        </p:nvGrpSpPr>
        <p:grpSpPr>
          <a:xfrm rot="0">
            <a:off x="992238" y="5439366"/>
            <a:ext cx="5245446" cy="2087318"/>
            <a:chOff x="0" y="0"/>
            <a:chExt cx="6993928" cy="2783091"/>
          </a:xfrm>
        </p:grpSpPr>
        <p:sp>
          <p:nvSpPr>
            <p:cNvPr name="Freeform 9" id="9"/>
            <p:cNvSpPr/>
            <p:nvPr/>
          </p:nvSpPr>
          <p:spPr>
            <a:xfrm flipH="false" flipV="false" rot="0">
              <a:off x="0" y="0"/>
              <a:ext cx="6994017" cy="2783078"/>
            </a:xfrm>
            <a:custGeom>
              <a:avLst/>
              <a:gdLst/>
              <a:ahLst/>
              <a:cxnLst/>
              <a:rect r="r" b="b" t="t" l="l"/>
              <a:pathLst>
                <a:path h="2783078" w="6994017">
                  <a:moveTo>
                    <a:pt x="0" y="56769"/>
                  </a:moveTo>
                  <a:cubicBezTo>
                    <a:pt x="0" y="25400"/>
                    <a:pt x="25400" y="0"/>
                    <a:pt x="56769" y="0"/>
                  </a:cubicBezTo>
                  <a:lnTo>
                    <a:pt x="6937248" y="0"/>
                  </a:lnTo>
                  <a:cubicBezTo>
                    <a:pt x="6968617" y="0"/>
                    <a:pt x="6994017" y="25400"/>
                    <a:pt x="6994017" y="56769"/>
                  </a:cubicBezTo>
                  <a:lnTo>
                    <a:pt x="6994017" y="2726309"/>
                  </a:lnTo>
                  <a:cubicBezTo>
                    <a:pt x="6994017" y="2757678"/>
                    <a:pt x="6968617" y="2783078"/>
                    <a:pt x="6937248" y="2783078"/>
                  </a:cubicBezTo>
                  <a:lnTo>
                    <a:pt x="56769" y="2783078"/>
                  </a:lnTo>
                  <a:cubicBezTo>
                    <a:pt x="25400" y="2783078"/>
                    <a:pt x="0" y="2757678"/>
                    <a:pt x="0" y="2726309"/>
                  </a:cubicBezTo>
                  <a:close/>
                </a:path>
              </a:pathLst>
            </a:custGeom>
            <a:solidFill>
              <a:srgbClr val="26262B"/>
            </a:solidFill>
          </p:spPr>
        </p:sp>
      </p:grpSp>
      <p:sp>
        <p:nvSpPr>
          <p:cNvPr name="TextBox 10" id="10"/>
          <p:cNvSpPr txBox="true"/>
          <p:nvPr/>
        </p:nvSpPr>
        <p:spPr>
          <a:xfrm rot="0">
            <a:off x="1275759" y="5684787"/>
            <a:ext cx="4184009"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Scattered Social Media</a:t>
            </a:r>
          </a:p>
        </p:txBody>
      </p:sp>
      <p:sp>
        <p:nvSpPr>
          <p:cNvPr name="TextBox 11" id="11"/>
          <p:cNvSpPr txBox="true"/>
          <p:nvPr/>
        </p:nvSpPr>
        <p:spPr>
          <a:xfrm rot="0">
            <a:off x="1275759" y="6250191"/>
            <a:ext cx="467841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Facebook groups and word of mouth lack centralization</a:t>
            </a:r>
          </a:p>
        </p:txBody>
      </p:sp>
      <p:grpSp>
        <p:nvGrpSpPr>
          <p:cNvPr name="Group 12" id="12"/>
          <p:cNvGrpSpPr/>
          <p:nvPr/>
        </p:nvGrpSpPr>
        <p:grpSpPr>
          <a:xfrm rot="0">
            <a:off x="6521206" y="5439366"/>
            <a:ext cx="5245446" cy="2087318"/>
            <a:chOff x="0" y="0"/>
            <a:chExt cx="6993928" cy="2783091"/>
          </a:xfrm>
        </p:grpSpPr>
        <p:sp>
          <p:nvSpPr>
            <p:cNvPr name="Freeform 13" id="13"/>
            <p:cNvSpPr/>
            <p:nvPr/>
          </p:nvSpPr>
          <p:spPr>
            <a:xfrm flipH="false" flipV="false" rot="0">
              <a:off x="0" y="0"/>
              <a:ext cx="6994017" cy="2783078"/>
            </a:xfrm>
            <a:custGeom>
              <a:avLst/>
              <a:gdLst/>
              <a:ahLst/>
              <a:cxnLst/>
              <a:rect r="r" b="b" t="t" l="l"/>
              <a:pathLst>
                <a:path h="2783078" w="6994017">
                  <a:moveTo>
                    <a:pt x="0" y="56769"/>
                  </a:moveTo>
                  <a:cubicBezTo>
                    <a:pt x="0" y="25400"/>
                    <a:pt x="25400" y="0"/>
                    <a:pt x="56769" y="0"/>
                  </a:cubicBezTo>
                  <a:lnTo>
                    <a:pt x="6937248" y="0"/>
                  </a:lnTo>
                  <a:cubicBezTo>
                    <a:pt x="6968617" y="0"/>
                    <a:pt x="6994017" y="25400"/>
                    <a:pt x="6994017" y="56769"/>
                  </a:cubicBezTo>
                  <a:lnTo>
                    <a:pt x="6994017" y="2726309"/>
                  </a:lnTo>
                  <a:cubicBezTo>
                    <a:pt x="6994017" y="2757678"/>
                    <a:pt x="6968617" y="2783078"/>
                    <a:pt x="6937248" y="2783078"/>
                  </a:cubicBezTo>
                  <a:lnTo>
                    <a:pt x="56769" y="2783078"/>
                  </a:lnTo>
                  <a:cubicBezTo>
                    <a:pt x="25400" y="2783078"/>
                    <a:pt x="0" y="2757678"/>
                    <a:pt x="0" y="2726309"/>
                  </a:cubicBezTo>
                  <a:close/>
                </a:path>
              </a:pathLst>
            </a:custGeom>
            <a:solidFill>
              <a:srgbClr val="26262B"/>
            </a:solidFill>
          </p:spPr>
        </p:sp>
      </p:grpSp>
      <p:sp>
        <p:nvSpPr>
          <p:cNvPr name="TextBox 14" id="14"/>
          <p:cNvSpPr txBox="true"/>
          <p:nvPr/>
        </p:nvSpPr>
        <p:spPr>
          <a:xfrm rot="0">
            <a:off x="6804717" y="5684787"/>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Physical Posters</a:t>
            </a:r>
          </a:p>
        </p:txBody>
      </p:sp>
      <p:sp>
        <p:nvSpPr>
          <p:cNvPr name="TextBox 15" id="15"/>
          <p:cNvSpPr txBox="true"/>
          <p:nvPr/>
        </p:nvSpPr>
        <p:spPr>
          <a:xfrm rot="0">
            <a:off x="6804717" y="6250191"/>
            <a:ext cx="467841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Isolated on-campus event promotion</a:t>
            </a:r>
          </a:p>
        </p:txBody>
      </p:sp>
      <p:grpSp>
        <p:nvGrpSpPr>
          <p:cNvPr name="Group 16" id="16"/>
          <p:cNvGrpSpPr/>
          <p:nvPr/>
        </p:nvGrpSpPr>
        <p:grpSpPr>
          <a:xfrm rot="0">
            <a:off x="12050163" y="5439366"/>
            <a:ext cx="5245446" cy="2087318"/>
            <a:chOff x="0" y="0"/>
            <a:chExt cx="6993928" cy="2783091"/>
          </a:xfrm>
        </p:grpSpPr>
        <p:sp>
          <p:nvSpPr>
            <p:cNvPr name="Freeform 17" id="17"/>
            <p:cNvSpPr/>
            <p:nvPr/>
          </p:nvSpPr>
          <p:spPr>
            <a:xfrm flipH="false" flipV="false" rot="0">
              <a:off x="0" y="0"/>
              <a:ext cx="6994017" cy="2783078"/>
            </a:xfrm>
            <a:custGeom>
              <a:avLst/>
              <a:gdLst/>
              <a:ahLst/>
              <a:cxnLst/>
              <a:rect r="r" b="b" t="t" l="l"/>
              <a:pathLst>
                <a:path h="2783078" w="6994017">
                  <a:moveTo>
                    <a:pt x="0" y="56769"/>
                  </a:moveTo>
                  <a:cubicBezTo>
                    <a:pt x="0" y="25400"/>
                    <a:pt x="25400" y="0"/>
                    <a:pt x="56769" y="0"/>
                  </a:cubicBezTo>
                  <a:lnTo>
                    <a:pt x="6937248" y="0"/>
                  </a:lnTo>
                  <a:cubicBezTo>
                    <a:pt x="6968617" y="0"/>
                    <a:pt x="6994017" y="25400"/>
                    <a:pt x="6994017" y="56769"/>
                  </a:cubicBezTo>
                  <a:lnTo>
                    <a:pt x="6994017" y="2726309"/>
                  </a:lnTo>
                  <a:cubicBezTo>
                    <a:pt x="6994017" y="2757678"/>
                    <a:pt x="6968617" y="2783078"/>
                    <a:pt x="6937248" y="2783078"/>
                  </a:cubicBezTo>
                  <a:lnTo>
                    <a:pt x="56769" y="2783078"/>
                  </a:lnTo>
                  <a:cubicBezTo>
                    <a:pt x="25400" y="2783078"/>
                    <a:pt x="0" y="2757678"/>
                    <a:pt x="0" y="2726309"/>
                  </a:cubicBezTo>
                  <a:close/>
                </a:path>
              </a:pathLst>
            </a:custGeom>
            <a:solidFill>
              <a:srgbClr val="26262B"/>
            </a:solidFill>
          </p:spPr>
        </p:sp>
      </p:grpSp>
      <p:sp>
        <p:nvSpPr>
          <p:cNvPr name="TextBox 18" id="18"/>
          <p:cNvSpPr txBox="true"/>
          <p:nvPr/>
        </p:nvSpPr>
        <p:spPr>
          <a:xfrm rot="0">
            <a:off x="12333684" y="5684787"/>
            <a:ext cx="3881590"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Manual Spreadsheets</a:t>
            </a:r>
          </a:p>
        </p:txBody>
      </p:sp>
      <p:sp>
        <p:nvSpPr>
          <p:cNvPr name="TextBox 19" id="19"/>
          <p:cNvSpPr txBox="true"/>
          <p:nvPr/>
        </p:nvSpPr>
        <p:spPr>
          <a:xfrm rot="0">
            <a:off x="12333684" y="6250191"/>
            <a:ext cx="467841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Time-consuming administrative tasks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465937"/>
            <a:ext cx="15455798"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Scattered Social Media and Word of Mouth</a:t>
            </a:r>
          </a:p>
        </p:txBody>
      </p:sp>
      <p:sp>
        <p:nvSpPr>
          <p:cNvPr name="TextBox 7" id="7"/>
          <p:cNvSpPr txBox="true"/>
          <p:nvPr/>
        </p:nvSpPr>
        <p:spPr>
          <a:xfrm rot="0">
            <a:off x="992238" y="4003624"/>
            <a:ext cx="10355161"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Clubs rely on fragmented channels that make finding information difficult.</a:t>
            </a:r>
          </a:p>
        </p:txBody>
      </p:sp>
      <p:sp>
        <p:nvSpPr>
          <p:cNvPr name="TextBox 8" id="8"/>
          <p:cNvSpPr txBox="true"/>
          <p:nvPr/>
        </p:nvSpPr>
        <p:spPr>
          <a:xfrm rot="0">
            <a:off x="992238" y="4788398"/>
            <a:ext cx="3544043"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Key Issues</a:t>
            </a:r>
          </a:p>
        </p:txBody>
      </p:sp>
      <p:sp>
        <p:nvSpPr>
          <p:cNvPr name="TextBox 9" id="9"/>
          <p:cNvSpPr txBox="true"/>
          <p:nvPr/>
        </p:nvSpPr>
        <p:spPr>
          <a:xfrm rot="0">
            <a:off x="992238" y="5467198"/>
            <a:ext cx="10355161" cy="2197598"/>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New students can't find club info</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No master list of active clubs</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Recruitment deadlines missed</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No centralized notifications</a:t>
            </a:r>
          </a:p>
        </p:txBody>
      </p:sp>
      <p:grpSp>
        <p:nvGrpSpPr>
          <p:cNvPr name="Group 10" id="10"/>
          <p:cNvGrpSpPr/>
          <p:nvPr/>
        </p:nvGrpSpPr>
        <p:grpSpPr>
          <a:xfrm rot="0">
            <a:off x="11844490" y="3834260"/>
            <a:ext cx="5664841" cy="3929653"/>
            <a:chOff x="0" y="0"/>
            <a:chExt cx="7553122" cy="5239537"/>
          </a:xfrm>
        </p:grpSpPr>
        <p:sp>
          <p:nvSpPr>
            <p:cNvPr name="Freeform 11" id="11"/>
            <p:cNvSpPr/>
            <p:nvPr/>
          </p:nvSpPr>
          <p:spPr>
            <a:xfrm flipH="false" flipV="false" rot="0">
              <a:off x="0" y="0"/>
              <a:ext cx="7553072" cy="5239512"/>
            </a:xfrm>
            <a:custGeom>
              <a:avLst/>
              <a:gdLst/>
              <a:ahLst/>
              <a:cxnLst/>
              <a:rect r="r" b="b" t="t" l="l"/>
              <a:pathLst>
                <a:path h="5239512" w="7553072">
                  <a:moveTo>
                    <a:pt x="0" y="56642"/>
                  </a:moveTo>
                  <a:cubicBezTo>
                    <a:pt x="0" y="25400"/>
                    <a:pt x="25400" y="0"/>
                    <a:pt x="56642" y="0"/>
                  </a:cubicBezTo>
                  <a:lnTo>
                    <a:pt x="7496429" y="0"/>
                  </a:lnTo>
                  <a:cubicBezTo>
                    <a:pt x="7527798" y="0"/>
                    <a:pt x="7553072" y="25400"/>
                    <a:pt x="7553072" y="56642"/>
                  </a:cubicBezTo>
                  <a:lnTo>
                    <a:pt x="7553072" y="5182870"/>
                  </a:lnTo>
                  <a:cubicBezTo>
                    <a:pt x="7553072" y="5214239"/>
                    <a:pt x="7527672" y="5239512"/>
                    <a:pt x="7496429" y="5239512"/>
                  </a:cubicBezTo>
                  <a:lnTo>
                    <a:pt x="56642" y="5239512"/>
                  </a:lnTo>
                  <a:cubicBezTo>
                    <a:pt x="25273" y="5239512"/>
                    <a:pt x="0" y="5214112"/>
                    <a:pt x="0" y="5182870"/>
                  </a:cubicBezTo>
                  <a:close/>
                </a:path>
              </a:pathLst>
            </a:custGeom>
            <a:solidFill>
              <a:srgbClr val="97B8FF"/>
            </a:solidFill>
          </p:spPr>
        </p:sp>
      </p:grpSp>
      <p:sp>
        <p:nvSpPr>
          <p:cNvPr name="TextBox 12" id="12"/>
          <p:cNvSpPr txBox="true"/>
          <p:nvPr/>
        </p:nvSpPr>
        <p:spPr>
          <a:xfrm rot="0">
            <a:off x="12128002" y="4079672"/>
            <a:ext cx="3544043" cy="481012"/>
          </a:xfrm>
          <a:prstGeom prst="rect">
            <a:avLst/>
          </a:prstGeom>
        </p:spPr>
        <p:txBody>
          <a:bodyPr anchor="t" rtlCol="false" tIns="0" lIns="0" bIns="0" rIns="0">
            <a:spAutoFit/>
          </a:bodyPr>
          <a:lstStyle/>
          <a:p>
            <a:pPr algn="l">
              <a:lnSpc>
                <a:spcPts val="3437"/>
              </a:lnSpc>
            </a:pPr>
            <a:r>
              <a:rPr lang="en-US" sz="2750">
                <a:solidFill>
                  <a:srgbClr val="000000"/>
                </a:solidFill>
                <a:latin typeface="Arimo"/>
                <a:ea typeface="Arimo"/>
                <a:cs typeface="Arimo"/>
                <a:sym typeface="Arimo"/>
              </a:rPr>
              <a:t>Impact</a:t>
            </a:r>
          </a:p>
        </p:txBody>
      </p:sp>
      <p:sp>
        <p:nvSpPr>
          <p:cNvPr name="TextBox 13" id="13"/>
          <p:cNvSpPr txBox="true"/>
          <p:nvPr/>
        </p:nvSpPr>
        <p:spPr>
          <a:xfrm rot="0">
            <a:off x="12128002" y="4758480"/>
            <a:ext cx="5097809" cy="1446609"/>
          </a:xfrm>
          <a:prstGeom prst="rect">
            <a:avLst/>
          </a:prstGeom>
        </p:spPr>
        <p:txBody>
          <a:bodyPr anchor="t" rtlCol="false" tIns="0" lIns="0" bIns="0" rIns="0">
            <a:spAutoFit/>
          </a:bodyPr>
          <a:lstStyle/>
          <a:p>
            <a:pPr algn="l">
              <a:lnSpc>
                <a:spcPts val="3562"/>
              </a:lnSpc>
            </a:pPr>
            <a:r>
              <a:rPr lang="en-US" sz="2187">
                <a:solidFill>
                  <a:srgbClr val="000000"/>
                </a:solidFill>
                <a:latin typeface="Noto Sans"/>
                <a:ea typeface="Noto Sans"/>
                <a:cs typeface="Noto Sans"/>
                <a:sym typeface="Noto Sans"/>
              </a:rPr>
              <a:t>Students struggle to find comprehensive lists of active clubs and their specific mandates.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824458"/>
            <a:ext cx="15765513"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Physical Posters: The Coordination Problem</a:t>
            </a:r>
          </a:p>
        </p:txBody>
      </p:sp>
      <p:grpSp>
        <p:nvGrpSpPr>
          <p:cNvPr name="Group 7" id="7"/>
          <p:cNvGrpSpPr/>
          <p:nvPr/>
        </p:nvGrpSpPr>
        <p:grpSpPr>
          <a:xfrm rot="0">
            <a:off x="973188" y="4315568"/>
            <a:ext cx="5283546" cy="3108874"/>
            <a:chOff x="0" y="0"/>
            <a:chExt cx="7044728" cy="4145166"/>
          </a:xfrm>
        </p:grpSpPr>
        <p:sp>
          <p:nvSpPr>
            <p:cNvPr name="Freeform 8" id="8"/>
            <p:cNvSpPr/>
            <p:nvPr/>
          </p:nvSpPr>
          <p:spPr>
            <a:xfrm flipH="false" flipV="false" rot="0">
              <a:off x="25400" y="25400"/>
              <a:ext cx="6993890" cy="4094353"/>
            </a:xfrm>
            <a:custGeom>
              <a:avLst/>
              <a:gdLst/>
              <a:ahLst/>
              <a:cxnLst/>
              <a:rect r="r" b="b" t="t" l="l"/>
              <a:pathLst>
                <a:path h="4094353" w="6993890">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07070C"/>
            </a:solidFill>
          </p:spPr>
        </p:sp>
        <p:sp>
          <p:nvSpPr>
            <p:cNvPr name="Freeform 9" id="9"/>
            <p:cNvSpPr/>
            <p:nvPr/>
          </p:nvSpPr>
          <p:spPr>
            <a:xfrm flipH="false" flipV="false" rot="0">
              <a:off x="0" y="0"/>
              <a:ext cx="7044690" cy="4145153"/>
            </a:xfrm>
            <a:custGeom>
              <a:avLst/>
              <a:gdLst/>
              <a:ahLst/>
              <a:cxnLst/>
              <a:rect r="r" b="b" t="t" l="l"/>
              <a:pathLst>
                <a:path h="4145153" w="7044690">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3F3F44"/>
            </a:solidFill>
          </p:spPr>
        </p:sp>
      </p:grpSp>
      <p:grpSp>
        <p:nvGrpSpPr>
          <p:cNvPr name="Group 10" id="10"/>
          <p:cNvGrpSpPr/>
          <p:nvPr/>
        </p:nvGrpSpPr>
        <p:grpSpPr>
          <a:xfrm rot="0">
            <a:off x="954138" y="4334618"/>
            <a:ext cx="152400" cy="3070774"/>
            <a:chOff x="0" y="0"/>
            <a:chExt cx="203200" cy="4094366"/>
          </a:xfrm>
        </p:grpSpPr>
        <p:sp>
          <p:nvSpPr>
            <p:cNvPr name="Freeform 11" id="11" descr="preencoded.png"/>
            <p:cNvSpPr/>
            <p:nvPr/>
          </p:nvSpPr>
          <p:spPr>
            <a:xfrm flipH="false" flipV="false" rot="0">
              <a:off x="0" y="0"/>
              <a:ext cx="203200" cy="4094353"/>
            </a:xfrm>
            <a:custGeom>
              <a:avLst/>
              <a:gdLst/>
              <a:ahLst/>
              <a:cxnLst/>
              <a:rect r="r" b="b" t="t" l="l"/>
              <a:pathLst>
                <a:path h="4094353" w="203200">
                  <a:moveTo>
                    <a:pt x="0" y="0"/>
                  </a:moveTo>
                  <a:lnTo>
                    <a:pt x="203200" y="0"/>
                  </a:lnTo>
                  <a:lnTo>
                    <a:pt x="203200" y="4094353"/>
                  </a:lnTo>
                  <a:lnTo>
                    <a:pt x="0" y="4094353"/>
                  </a:lnTo>
                  <a:lnTo>
                    <a:pt x="0" y="0"/>
                  </a:lnTo>
                  <a:close/>
                </a:path>
              </a:pathLst>
            </a:custGeom>
            <a:blipFill>
              <a:blip r:embed="rId4"/>
              <a:stretch>
                <a:fillRect l="-62" t="0" r="-56" b="0"/>
              </a:stretch>
            </a:blipFill>
          </p:spPr>
        </p:sp>
      </p:grpSp>
      <p:sp>
        <p:nvSpPr>
          <p:cNvPr name="TextBox 12" id="12"/>
          <p:cNvSpPr txBox="true"/>
          <p:nvPr/>
        </p:nvSpPr>
        <p:spPr>
          <a:xfrm rot="0">
            <a:off x="1428159" y="461813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Common Practice</a:t>
            </a:r>
          </a:p>
        </p:txBody>
      </p:sp>
      <p:sp>
        <p:nvSpPr>
          <p:cNvPr name="TextBox 13" id="13"/>
          <p:cNvSpPr txBox="true"/>
          <p:nvPr/>
        </p:nvSpPr>
        <p:spPr>
          <a:xfrm rot="0">
            <a:off x="1428159" y="5183534"/>
            <a:ext cx="448791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Physical posters are commonly utilized for on-campus event promotion.</a:t>
            </a:r>
          </a:p>
        </p:txBody>
      </p:sp>
      <p:grpSp>
        <p:nvGrpSpPr>
          <p:cNvPr name="Group 14" id="14"/>
          <p:cNvGrpSpPr/>
          <p:nvPr/>
        </p:nvGrpSpPr>
        <p:grpSpPr>
          <a:xfrm rot="0">
            <a:off x="6502156" y="4315568"/>
            <a:ext cx="5283546" cy="3108874"/>
            <a:chOff x="0" y="0"/>
            <a:chExt cx="7044728" cy="4145166"/>
          </a:xfrm>
        </p:grpSpPr>
        <p:sp>
          <p:nvSpPr>
            <p:cNvPr name="Freeform 15" id="15"/>
            <p:cNvSpPr/>
            <p:nvPr/>
          </p:nvSpPr>
          <p:spPr>
            <a:xfrm flipH="false" flipV="false" rot="0">
              <a:off x="25400" y="25400"/>
              <a:ext cx="6993890" cy="4094353"/>
            </a:xfrm>
            <a:custGeom>
              <a:avLst/>
              <a:gdLst/>
              <a:ahLst/>
              <a:cxnLst/>
              <a:rect r="r" b="b" t="t" l="l"/>
              <a:pathLst>
                <a:path h="4094353" w="6993890">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07070C"/>
            </a:solidFill>
          </p:spPr>
        </p:sp>
        <p:sp>
          <p:nvSpPr>
            <p:cNvPr name="Freeform 16" id="16"/>
            <p:cNvSpPr/>
            <p:nvPr/>
          </p:nvSpPr>
          <p:spPr>
            <a:xfrm flipH="false" flipV="false" rot="0">
              <a:off x="0" y="0"/>
              <a:ext cx="7044690" cy="4145153"/>
            </a:xfrm>
            <a:custGeom>
              <a:avLst/>
              <a:gdLst/>
              <a:ahLst/>
              <a:cxnLst/>
              <a:rect r="r" b="b" t="t" l="l"/>
              <a:pathLst>
                <a:path h="4145153" w="7044690">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3F3F44"/>
            </a:solidFill>
          </p:spPr>
        </p:sp>
      </p:grpSp>
      <p:grpSp>
        <p:nvGrpSpPr>
          <p:cNvPr name="Group 17" id="17"/>
          <p:cNvGrpSpPr/>
          <p:nvPr/>
        </p:nvGrpSpPr>
        <p:grpSpPr>
          <a:xfrm rot="0">
            <a:off x="6483106" y="4334618"/>
            <a:ext cx="152400" cy="3070774"/>
            <a:chOff x="0" y="0"/>
            <a:chExt cx="203200" cy="4094366"/>
          </a:xfrm>
        </p:grpSpPr>
        <p:sp>
          <p:nvSpPr>
            <p:cNvPr name="Freeform 18" id="18" descr="preencoded.png"/>
            <p:cNvSpPr/>
            <p:nvPr/>
          </p:nvSpPr>
          <p:spPr>
            <a:xfrm flipH="false" flipV="false" rot="0">
              <a:off x="0" y="0"/>
              <a:ext cx="203200" cy="4094353"/>
            </a:xfrm>
            <a:custGeom>
              <a:avLst/>
              <a:gdLst/>
              <a:ahLst/>
              <a:cxnLst/>
              <a:rect r="r" b="b" t="t" l="l"/>
              <a:pathLst>
                <a:path h="4094353" w="203200">
                  <a:moveTo>
                    <a:pt x="0" y="0"/>
                  </a:moveTo>
                  <a:lnTo>
                    <a:pt x="203200" y="0"/>
                  </a:lnTo>
                  <a:lnTo>
                    <a:pt x="203200" y="4094353"/>
                  </a:lnTo>
                  <a:lnTo>
                    <a:pt x="0" y="4094353"/>
                  </a:lnTo>
                  <a:lnTo>
                    <a:pt x="0" y="0"/>
                  </a:lnTo>
                  <a:close/>
                </a:path>
              </a:pathLst>
            </a:custGeom>
            <a:blipFill>
              <a:blip r:embed="rId4"/>
              <a:stretch>
                <a:fillRect l="-62" t="0" r="-56" b="0"/>
              </a:stretch>
            </a:blipFill>
          </p:spPr>
        </p:sp>
      </p:grpSp>
      <p:sp>
        <p:nvSpPr>
          <p:cNvPr name="TextBox 19" id="19"/>
          <p:cNvSpPr txBox="true"/>
          <p:nvPr/>
        </p:nvSpPr>
        <p:spPr>
          <a:xfrm rot="0">
            <a:off x="6957117" y="461813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Core Issue</a:t>
            </a:r>
          </a:p>
        </p:txBody>
      </p:sp>
      <p:sp>
        <p:nvSpPr>
          <p:cNvPr name="TextBox 20" id="20"/>
          <p:cNvSpPr txBox="true"/>
          <p:nvPr/>
        </p:nvSpPr>
        <p:spPr>
          <a:xfrm rot="0">
            <a:off x="6957117" y="5183534"/>
            <a:ext cx="4487913"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Without a master calendar to track these events, clubs often schedule major events on overlapping dates.</a:t>
            </a:r>
          </a:p>
        </p:txBody>
      </p:sp>
      <p:grpSp>
        <p:nvGrpSpPr>
          <p:cNvPr name="Group 21" id="21"/>
          <p:cNvGrpSpPr/>
          <p:nvPr/>
        </p:nvGrpSpPr>
        <p:grpSpPr>
          <a:xfrm rot="0">
            <a:off x="12031113" y="4315568"/>
            <a:ext cx="5283546" cy="3108874"/>
            <a:chOff x="0" y="0"/>
            <a:chExt cx="7044728" cy="4145166"/>
          </a:xfrm>
        </p:grpSpPr>
        <p:sp>
          <p:nvSpPr>
            <p:cNvPr name="Freeform 22" id="22"/>
            <p:cNvSpPr/>
            <p:nvPr/>
          </p:nvSpPr>
          <p:spPr>
            <a:xfrm flipH="false" flipV="false" rot="0">
              <a:off x="25400" y="25400"/>
              <a:ext cx="6993890" cy="4094353"/>
            </a:xfrm>
            <a:custGeom>
              <a:avLst/>
              <a:gdLst/>
              <a:ahLst/>
              <a:cxnLst/>
              <a:rect r="r" b="b" t="t" l="l"/>
              <a:pathLst>
                <a:path h="4094353" w="6993890">
                  <a:moveTo>
                    <a:pt x="0" y="243840"/>
                  </a:moveTo>
                  <a:cubicBezTo>
                    <a:pt x="0" y="109220"/>
                    <a:pt x="109728" y="0"/>
                    <a:pt x="245110" y="0"/>
                  </a:cubicBezTo>
                  <a:lnTo>
                    <a:pt x="6748780" y="0"/>
                  </a:lnTo>
                  <a:cubicBezTo>
                    <a:pt x="6884162" y="0"/>
                    <a:pt x="6993890" y="109220"/>
                    <a:pt x="6993890" y="243840"/>
                  </a:cubicBezTo>
                  <a:lnTo>
                    <a:pt x="6993890" y="3850513"/>
                  </a:lnTo>
                  <a:cubicBezTo>
                    <a:pt x="6993890" y="3985133"/>
                    <a:pt x="6884162" y="4094353"/>
                    <a:pt x="6748780" y="4094353"/>
                  </a:cubicBezTo>
                  <a:lnTo>
                    <a:pt x="245110" y="4094353"/>
                  </a:lnTo>
                  <a:cubicBezTo>
                    <a:pt x="109728" y="4094353"/>
                    <a:pt x="0" y="3985133"/>
                    <a:pt x="0" y="3850513"/>
                  </a:cubicBezTo>
                  <a:close/>
                </a:path>
              </a:pathLst>
            </a:custGeom>
            <a:solidFill>
              <a:srgbClr val="07070C"/>
            </a:solidFill>
          </p:spPr>
        </p:sp>
        <p:sp>
          <p:nvSpPr>
            <p:cNvPr name="Freeform 23" id="23"/>
            <p:cNvSpPr/>
            <p:nvPr/>
          </p:nvSpPr>
          <p:spPr>
            <a:xfrm flipH="false" flipV="false" rot="0">
              <a:off x="0" y="0"/>
              <a:ext cx="7044690" cy="4145153"/>
            </a:xfrm>
            <a:custGeom>
              <a:avLst/>
              <a:gdLst/>
              <a:ahLst/>
              <a:cxnLst/>
              <a:rect r="r" b="b" t="t" l="l"/>
              <a:pathLst>
                <a:path h="4145153" w="7044690">
                  <a:moveTo>
                    <a:pt x="0" y="269240"/>
                  </a:moveTo>
                  <a:cubicBezTo>
                    <a:pt x="0" y="120396"/>
                    <a:pt x="121285" y="0"/>
                    <a:pt x="270510" y="0"/>
                  </a:cubicBezTo>
                  <a:lnTo>
                    <a:pt x="6774180" y="0"/>
                  </a:lnTo>
                  <a:lnTo>
                    <a:pt x="6774180" y="25400"/>
                  </a:lnTo>
                  <a:lnTo>
                    <a:pt x="6774180" y="0"/>
                  </a:lnTo>
                  <a:cubicBezTo>
                    <a:pt x="6923405" y="0"/>
                    <a:pt x="7044690" y="120396"/>
                    <a:pt x="7044690" y="269240"/>
                  </a:cubicBezTo>
                  <a:lnTo>
                    <a:pt x="7019290" y="269240"/>
                  </a:lnTo>
                  <a:lnTo>
                    <a:pt x="7044690" y="269240"/>
                  </a:lnTo>
                  <a:lnTo>
                    <a:pt x="7044690" y="3875913"/>
                  </a:lnTo>
                  <a:lnTo>
                    <a:pt x="7019290" y="3875913"/>
                  </a:lnTo>
                  <a:lnTo>
                    <a:pt x="7044690" y="3875913"/>
                  </a:lnTo>
                  <a:cubicBezTo>
                    <a:pt x="7044690" y="4024757"/>
                    <a:pt x="6923405" y="4145153"/>
                    <a:pt x="6774180" y="4145153"/>
                  </a:cubicBezTo>
                  <a:lnTo>
                    <a:pt x="6774180" y="4119753"/>
                  </a:lnTo>
                  <a:lnTo>
                    <a:pt x="6774180" y="4145153"/>
                  </a:lnTo>
                  <a:lnTo>
                    <a:pt x="270510" y="4145153"/>
                  </a:lnTo>
                  <a:lnTo>
                    <a:pt x="270510" y="4119753"/>
                  </a:lnTo>
                  <a:lnTo>
                    <a:pt x="270510" y="4145153"/>
                  </a:lnTo>
                  <a:cubicBezTo>
                    <a:pt x="121285"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098" y="4094353"/>
                    <a:pt x="270510" y="4094353"/>
                  </a:cubicBezTo>
                  <a:lnTo>
                    <a:pt x="6774180" y="4094353"/>
                  </a:lnTo>
                  <a:cubicBezTo>
                    <a:pt x="6895592" y="4094353"/>
                    <a:pt x="6993890" y="3996436"/>
                    <a:pt x="6993890" y="3875913"/>
                  </a:cubicBezTo>
                  <a:lnTo>
                    <a:pt x="6993890" y="269240"/>
                  </a:lnTo>
                  <a:cubicBezTo>
                    <a:pt x="6993890" y="148717"/>
                    <a:pt x="6895592" y="50800"/>
                    <a:pt x="6774180" y="50800"/>
                  </a:cubicBezTo>
                  <a:lnTo>
                    <a:pt x="270510" y="50800"/>
                  </a:lnTo>
                  <a:lnTo>
                    <a:pt x="270510" y="25400"/>
                  </a:lnTo>
                  <a:lnTo>
                    <a:pt x="270510" y="50800"/>
                  </a:lnTo>
                  <a:cubicBezTo>
                    <a:pt x="149098" y="50800"/>
                    <a:pt x="50800" y="148717"/>
                    <a:pt x="50800" y="269240"/>
                  </a:cubicBezTo>
                  <a:close/>
                </a:path>
              </a:pathLst>
            </a:custGeom>
            <a:solidFill>
              <a:srgbClr val="3F3F44"/>
            </a:solidFill>
          </p:spPr>
        </p:sp>
      </p:grpSp>
      <p:grpSp>
        <p:nvGrpSpPr>
          <p:cNvPr name="Group 24" id="24"/>
          <p:cNvGrpSpPr/>
          <p:nvPr/>
        </p:nvGrpSpPr>
        <p:grpSpPr>
          <a:xfrm rot="0">
            <a:off x="12012063" y="4334618"/>
            <a:ext cx="152400" cy="3070774"/>
            <a:chOff x="0" y="0"/>
            <a:chExt cx="203200" cy="4094366"/>
          </a:xfrm>
        </p:grpSpPr>
        <p:sp>
          <p:nvSpPr>
            <p:cNvPr name="Freeform 25" id="25" descr="preencoded.png"/>
            <p:cNvSpPr/>
            <p:nvPr/>
          </p:nvSpPr>
          <p:spPr>
            <a:xfrm flipH="false" flipV="false" rot="0">
              <a:off x="0" y="0"/>
              <a:ext cx="203200" cy="4094353"/>
            </a:xfrm>
            <a:custGeom>
              <a:avLst/>
              <a:gdLst/>
              <a:ahLst/>
              <a:cxnLst/>
              <a:rect r="r" b="b" t="t" l="l"/>
              <a:pathLst>
                <a:path h="4094353" w="203200">
                  <a:moveTo>
                    <a:pt x="0" y="0"/>
                  </a:moveTo>
                  <a:lnTo>
                    <a:pt x="203200" y="0"/>
                  </a:lnTo>
                  <a:lnTo>
                    <a:pt x="203200" y="4094353"/>
                  </a:lnTo>
                  <a:lnTo>
                    <a:pt x="0" y="4094353"/>
                  </a:lnTo>
                  <a:lnTo>
                    <a:pt x="0" y="0"/>
                  </a:lnTo>
                  <a:close/>
                </a:path>
              </a:pathLst>
            </a:custGeom>
            <a:blipFill>
              <a:blip r:embed="rId4"/>
              <a:stretch>
                <a:fillRect l="-62" t="0" r="-56" b="0"/>
              </a:stretch>
            </a:blipFill>
          </p:spPr>
        </p:sp>
      </p:grpSp>
      <p:sp>
        <p:nvSpPr>
          <p:cNvPr name="TextBox 26" id="26"/>
          <p:cNvSpPr txBox="true"/>
          <p:nvPr/>
        </p:nvSpPr>
        <p:spPr>
          <a:xfrm rot="0">
            <a:off x="12486084" y="461813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Resulting Problem</a:t>
            </a:r>
          </a:p>
        </p:txBody>
      </p:sp>
      <p:sp>
        <p:nvSpPr>
          <p:cNvPr name="TextBox 27" id="27"/>
          <p:cNvSpPr txBox="true"/>
          <p:nvPr/>
        </p:nvSpPr>
        <p:spPr>
          <a:xfrm rot="0">
            <a:off x="12486084" y="5183534"/>
            <a:ext cx="448791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This lack of coordination ultimately results in event clashes that split the student audience.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3344618"/>
            <a:ext cx="16258137"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Manual Spreadsheets: Administrative Burden</a:t>
            </a:r>
          </a:p>
        </p:txBody>
      </p:sp>
      <p:sp>
        <p:nvSpPr>
          <p:cNvPr name="TextBox 7" id="7"/>
          <p:cNvSpPr txBox="true"/>
          <p:nvPr/>
        </p:nvSpPr>
        <p:spPr>
          <a:xfrm rot="0">
            <a:off x="992238" y="4958353"/>
            <a:ext cx="3544043"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Current State</a:t>
            </a:r>
          </a:p>
        </p:txBody>
      </p:sp>
      <p:sp>
        <p:nvSpPr>
          <p:cNvPr name="TextBox 8" id="8"/>
          <p:cNvSpPr txBox="true"/>
          <p:nvPr/>
        </p:nvSpPr>
        <p:spPr>
          <a:xfrm rot="0">
            <a:off x="992238" y="5637162"/>
            <a:ext cx="7805890"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Club leaders still use manual spreadsheets for records and tasks.</a:t>
            </a:r>
          </a:p>
        </p:txBody>
      </p:sp>
      <p:grpSp>
        <p:nvGrpSpPr>
          <p:cNvPr name="Group 9" id="9"/>
          <p:cNvGrpSpPr/>
          <p:nvPr/>
        </p:nvGrpSpPr>
        <p:grpSpPr>
          <a:xfrm rot="0">
            <a:off x="9295209" y="4712941"/>
            <a:ext cx="8214274" cy="2172291"/>
            <a:chOff x="0" y="0"/>
            <a:chExt cx="10952366" cy="2896387"/>
          </a:xfrm>
        </p:grpSpPr>
        <p:sp>
          <p:nvSpPr>
            <p:cNvPr name="Freeform 10" id="10"/>
            <p:cNvSpPr/>
            <p:nvPr/>
          </p:nvSpPr>
          <p:spPr>
            <a:xfrm flipH="false" flipV="false" rot="0">
              <a:off x="0" y="0"/>
              <a:ext cx="10952480" cy="2896489"/>
            </a:xfrm>
            <a:custGeom>
              <a:avLst/>
              <a:gdLst/>
              <a:ahLst/>
              <a:cxnLst/>
              <a:rect r="r" b="b" t="t" l="l"/>
              <a:pathLst>
                <a:path h="2896489" w="10952480">
                  <a:moveTo>
                    <a:pt x="0" y="56769"/>
                  </a:moveTo>
                  <a:cubicBezTo>
                    <a:pt x="0" y="25400"/>
                    <a:pt x="25400" y="0"/>
                    <a:pt x="56769" y="0"/>
                  </a:cubicBezTo>
                  <a:lnTo>
                    <a:pt x="10895711" y="0"/>
                  </a:lnTo>
                  <a:cubicBezTo>
                    <a:pt x="10927080" y="0"/>
                    <a:pt x="10952480" y="25400"/>
                    <a:pt x="10952480" y="56769"/>
                  </a:cubicBezTo>
                  <a:lnTo>
                    <a:pt x="10952480" y="2839720"/>
                  </a:lnTo>
                  <a:cubicBezTo>
                    <a:pt x="10952480" y="2871089"/>
                    <a:pt x="10927080" y="2896489"/>
                    <a:pt x="10895711" y="2896489"/>
                  </a:cubicBezTo>
                  <a:lnTo>
                    <a:pt x="56769" y="2896489"/>
                  </a:lnTo>
                  <a:cubicBezTo>
                    <a:pt x="25400" y="2896489"/>
                    <a:pt x="0" y="2871089"/>
                    <a:pt x="0" y="2839720"/>
                  </a:cubicBezTo>
                  <a:close/>
                </a:path>
              </a:pathLst>
            </a:custGeom>
            <a:solidFill>
              <a:srgbClr val="7AF0FF"/>
            </a:solidFill>
          </p:spPr>
        </p:sp>
      </p:grpSp>
      <p:sp>
        <p:nvSpPr>
          <p:cNvPr name="TextBox 11" id="11"/>
          <p:cNvSpPr txBox="true"/>
          <p:nvPr/>
        </p:nvSpPr>
        <p:spPr>
          <a:xfrm rot="0">
            <a:off x="9578731" y="4958353"/>
            <a:ext cx="3544043" cy="481012"/>
          </a:xfrm>
          <a:prstGeom prst="rect">
            <a:avLst/>
          </a:prstGeom>
        </p:spPr>
        <p:txBody>
          <a:bodyPr anchor="t" rtlCol="false" tIns="0" lIns="0" bIns="0" rIns="0">
            <a:spAutoFit/>
          </a:bodyPr>
          <a:lstStyle/>
          <a:p>
            <a:pPr algn="l">
              <a:lnSpc>
                <a:spcPts val="3437"/>
              </a:lnSpc>
            </a:pPr>
            <a:r>
              <a:rPr lang="en-US" sz="2750">
                <a:solidFill>
                  <a:srgbClr val="000000"/>
                </a:solidFill>
                <a:latin typeface="Arimo"/>
                <a:ea typeface="Arimo"/>
                <a:cs typeface="Arimo"/>
                <a:sym typeface="Arimo"/>
              </a:rPr>
              <a:t>Consequence</a:t>
            </a:r>
          </a:p>
        </p:txBody>
      </p:sp>
      <p:sp>
        <p:nvSpPr>
          <p:cNvPr name="TextBox 12" id="12"/>
          <p:cNvSpPr txBox="true"/>
          <p:nvPr/>
        </p:nvSpPr>
        <p:spPr>
          <a:xfrm rot="0">
            <a:off x="9578731" y="5637162"/>
            <a:ext cx="7647232" cy="992981"/>
          </a:xfrm>
          <a:prstGeom prst="rect">
            <a:avLst/>
          </a:prstGeom>
        </p:spPr>
        <p:txBody>
          <a:bodyPr anchor="t" rtlCol="false" tIns="0" lIns="0" bIns="0" rIns="0">
            <a:spAutoFit/>
          </a:bodyPr>
          <a:lstStyle/>
          <a:p>
            <a:pPr algn="l">
              <a:lnSpc>
                <a:spcPts val="3562"/>
              </a:lnSpc>
            </a:pPr>
            <a:r>
              <a:rPr lang="en-US" sz="2187">
                <a:solidFill>
                  <a:srgbClr val="000000"/>
                </a:solidFill>
                <a:latin typeface="Noto Sans"/>
                <a:ea typeface="Noto Sans"/>
                <a:cs typeface="Noto Sans"/>
                <a:sym typeface="Noto Sans"/>
              </a:rPr>
              <a:t>They spend too much time on data entry instead of running activities.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050409"/>
            <a:ext cx="12434592"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Identified Gaps and Opportunities</a:t>
            </a:r>
          </a:p>
        </p:txBody>
      </p:sp>
      <p:sp>
        <p:nvSpPr>
          <p:cNvPr name="TextBox 7" id="7"/>
          <p:cNvSpPr txBox="true"/>
          <p:nvPr/>
        </p:nvSpPr>
        <p:spPr>
          <a:xfrm rot="0">
            <a:off x="992238" y="3455784"/>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01</a:t>
            </a:r>
          </a:p>
        </p:txBody>
      </p:sp>
      <p:grpSp>
        <p:nvGrpSpPr>
          <p:cNvPr name="Group 8" id="8"/>
          <p:cNvGrpSpPr/>
          <p:nvPr/>
        </p:nvGrpSpPr>
        <p:grpSpPr>
          <a:xfrm rot="0">
            <a:off x="992238" y="4004367"/>
            <a:ext cx="8009934" cy="38100"/>
            <a:chOff x="0" y="0"/>
            <a:chExt cx="10679913" cy="50800"/>
          </a:xfrm>
        </p:grpSpPr>
        <p:sp>
          <p:nvSpPr>
            <p:cNvPr name="Freeform 9" id="9"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4"/>
              <a:stretch>
                <a:fillRect l="-3" t="0" r="-3" b="0"/>
              </a:stretch>
            </a:blipFill>
          </p:spPr>
        </p:sp>
      </p:grpSp>
      <p:sp>
        <p:nvSpPr>
          <p:cNvPr name="TextBox 10" id="10"/>
          <p:cNvSpPr txBox="true"/>
          <p:nvPr/>
        </p:nvSpPr>
        <p:spPr>
          <a:xfrm rot="0">
            <a:off x="992238" y="4184152"/>
            <a:ext cx="4290270"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Information Asymmetry</a:t>
            </a:r>
          </a:p>
        </p:txBody>
      </p:sp>
      <p:sp>
        <p:nvSpPr>
          <p:cNvPr name="TextBox 11" id="11"/>
          <p:cNvSpPr txBox="true"/>
          <p:nvPr/>
        </p:nvSpPr>
        <p:spPr>
          <a:xfrm rot="0">
            <a:off x="992238" y="4749556"/>
            <a:ext cx="8009934"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New students struggle to find comprehensive club information</a:t>
            </a:r>
          </a:p>
        </p:txBody>
      </p:sp>
      <p:sp>
        <p:nvSpPr>
          <p:cNvPr name="TextBox 12" id="12"/>
          <p:cNvSpPr txBox="true"/>
          <p:nvPr/>
        </p:nvSpPr>
        <p:spPr>
          <a:xfrm rot="0">
            <a:off x="9285684" y="3455784"/>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02</a:t>
            </a:r>
          </a:p>
        </p:txBody>
      </p:sp>
      <p:grpSp>
        <p:nvGrpSpPr>
          <p:cNvPr name="Group 13" id="13"/>
          <p:cNvGrpSpPr/>
          <p:nvPr/>
        </p:nvGrpSpPr>
        <p:grpSpPr>
          <a:xfrm rot="0">
            <a:off x="9285684" y="4004367"/>
            <a:ext cx="8010077" cy="38100"/>
            <a:chOff x="0" y="0"/>
            <a:chExt cx="10680103" cy="50800"/>
          </a:xfrm>
        </p:grpSpPr>
        <p:sp>
          <p:nvSpPr>
            <p:cNvPr name="Freeform 14" id="14"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4"/>
              <a:stretch>
                <a:fillRect l="-2" t="0" r="-3" b="0"/>
              </a:stretch>
            </a:blipFill>
          </p:spPr>
        </p:sp>
      </p:grpSp>
      <p:sp>
        <p:nvSpPr>
          <p:cNvPr name="TextBox 15" id="15"/>
          <p:cNvSpPr txBox="true"/>
          <p:nvPr/>
        </p:nvSpPr>
        <p:spPr>
          <a:xfrm rot="0">
            <a:off x="9285684" y="4184152"/>
            <a:ext cx="3631406"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Missed Recruitment</a:t>
            </a:r>
          </a:p>
        </p:txBody>
      </p:sp>
      <p:sp>
        <p:nvSpPr>
          <p:cNvPr name="TextBox 16" id="16"/>
          <p:cNvSpPr txBox="true"/>
          <p:nvPr/>
        </p:nvSpPr>
        <p:spPr>
          <a:xfrm rot="0">
            <a:off x="9285684" y="4749556"/>
            <a:ext cx="8010077"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Students frequently miss General Member recruitment deadlines</a:t>
            </a:r>
          </a:p>
        </p:txBody>
      </p:sp>
      <p:sp>
        <p:nvSpPr>
          <p:cNvPr name="TextBox 17" id="17"/>
          <p:cNvSpPr txBox="true"/>
          <p:nvPr/>
        </p:nvSpPr>
        <p:spPr>
          <a:xfrm rot="0">
            <a:off x="992238" y="6133805"/>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03</a:t>
            </a:r>
          </a:p>
        </p:txBody>
      </p:sp>
      <p:grpSp>
        <p:nvGrpSpPr>
          <p:cNvPr name="Group 18" id="18"/>
          <p:cNvGrpSpPr/>
          <p:nvPr/>
        </p:nvGrpSpPr>
        <p:grpSpPr>
          <a:xfrm rot="0">
            <a:off x="992238" y="6653955"/>
            <a:ext cx="8009934" cy="38100"/>
            <a:chOff x="0" y="0"/>
            <a:chExt cx="10679913" cy="50800"/>
          </a:xfrm>
        </p:grpSpPr>
        <p:sp>
          <p:nvSpPr>
            <p:cNvPr name="Freeform 19" id="19"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4"/>
              <a:stretch>
                <a:fillRect l="-3" t="0" r="-3" b="0"/>
              </a:stretch>
            </a:blipFill>
          </p:spPr>
        </p:sp>
      </p:grpSp>
      <p:sp>
        <p:nvSpPr>
          <p:cNvPr name="TextBox 20" id="20"/>
          <p:cNvSpPr txBox="true"/>
          <p:nvPr/>
        </p:nvSpPr>
        <p:spPr>
          <a:xfrm rot="0">
            <a:off x="992238" y="6862172"/>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Event Clashes</a:t>
            </a:r>
          </a:p>
        </p:txBody>
      </p:sp>
      <p:sp>
        <p:nvSpPr>
          <p:cNvPr name="TextBox 21" id="21"/>
          <p:cNvSpPr txBox="true"/>
          <p:nvPr/>
        </p:nvSpPr>
        <p:spPr>
          <a:xfrm rot="0">
            <a:off x="992238" y="7427566"/>
            <a:ext cx="8009934"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Overlapping schedules split the student audience</a:t>
            </a:r>
          </a:p>
        </p:txBody>
      </p:sp>
      <p:sp>
        <p:nvSpPr>
          <p:cNvPr name="TextBox 22" id="22"/>
          <p:cNvSpPr txBox="true"/>
          <p:nvPr/>
        </p:nvSpPr>
        <p:spPr>
          <a:xfrm rot="0">
            <a:off x="9285684" y="6133805"/>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04</a:t>
            </a:r>
          </a:p>
        </p:txBody>
      </p:sp>
      <p:grpSp>
        <p:nvGrpSpPr>
          <p:cNvPr name="Group 23" id="23"/>
          <p:cNvGrpSpPr/>
          <p:nvPr/>
        </p:nvGrpSpPr>
        <p:grpSpPr>
          <a:xfrm rot="0">
            <a:off x="9285684" y="6653955"/>
            <a:ext cx="8010077" cy="38100"/>
            <a:chOff x="0" y="0"/>
            <a:chExt cx="10680103" cy="50800"/>
          </a:xfrm>
        </p:grpSpPr>
        <p:sp>
          <p:nvSpPr>
            <p:cNvPr name="Freeform 24" id="24"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4"/>
              <a:stretch>
                <a:fillRect l="-2" t="0" r="-3" b="0"/>
              </a:stretch>
            </a:blipFill>
          </p:spPr>
        </p:sp>
      </p:grpSp>
      <p:sp>
        <p:nvSpPr>
          <p:cNvPr name="TextBox 25" id="25"/>
          <p:cNvSpPr txBox="true"/>
          <p:nvPr/>
        </p:nvSpPr>
        <p:spPr>
          <a:xfrm rot="0">
            <a:off x="9285684" y="6862172"/>
            <a:ext cx="4071347"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Administrative Burden</a:t>
            </a:r>
          </a:p>
        </p:txBody>
      </p:sp>
      <p:sp>
        <p:nvSpPr>
          <p:cNvPr name="TextBox 26" id="26"/>
          <p:cNvSpPr txBox="true"/>
          <p:nvPr/>
        </p:nvSpPr>
        <p:spPr>
          <a:xfrm rot="0">
            <a:off x="9285684" y="7427566"/>
            <a:ext cx="8010077"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Excessive time spent on manual record-keeping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986535"/>
            <a:ext cx="9942614"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NSU ClubHub: The Solution</a:t>
            </a:r>
          </a:p>
        </p:txBody>
      </p:sp>
      <p:sp>
        <p:nvSpPr>
          <p:cNvPr name="TextBox 7" id="7"/>
          <p:cNvSpPr txBox="true"/>
          <p:nvPr/>
        </p:nvSpPr>
        <p:spPr>
          <a:xfrm rot="0">
            <a:off x="992238" y="4410970"/>
            <a:ext cx="16303523"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A unified, web-based platform designed to bridge the gap between students and student organizations.</a:t>
            </a:r>
          </a:p>
        </p:txBody>
      </p:sp>
      <p:sp>
        <p:nvSpPr>
          <p:cNvPr name="Freeform 8" id="8" descr="preencoded.png"/>
          <p:cNvSpPr/>
          <p:nvPr/>
        </p:nvSpPr>
        <p:spPr>
          <a:xfrm flipH="false" flipV="false" rot="0">
            <a:off x="992238" y="5269259"/>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4">
              <a:extLst>
                <a:ext uri="{96DAC541-7B7A-43D3-8B79-37D633B846F1}">
                  <asvg:svgBlip xmlns:asvg="http://schemas.microsoft.com/office/drawing/2016/SVG/main" r:embed="rId5"/>
                </a:ext>
              </a:extLst>
            </a:blip>
            <a:stretch>
              <a:fillRect l="0" t="-666" r="0" b="-666"/>
            </a:stretch>
          </a:blipFill>
        </p:spPr>
      </p:sp>
      <p:sp>
        <p:nvSpPr>
          <p:cNvPr name="TextBox 9" id="9"/>
          <p:cNvSpPr txBox="true"/>
          <p:nvPr/>
        </p:nvSpPr>
        <p:spPr>
          <a:xfrm rot="0">
            <a:off x="2055314" y="5231159"/>
            <a:ext cx="381773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Searchable Directory</a:t>
            </a:r>
          </a:p>
        </p:txBody>
      </p:sp>
      <p:sp>
        <p:nvSpPr>
          <p:cNvPr name="TextBox 10" id="10"/>
          <p:cNvSpPr txBox="true"/>
          <p:nvPr/>
        </p:nvSpPr>
        <p:spPr>
          <a:xfrm rot="0">
            <a:off x="2055314" y="5796553"/>
            <a:ext cx="413519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Explore clubs through a centralized, searchable platform</a:t>
            </a:r>
          </a:p>
        </p:txBody>
      </p:sp>
      <p:sp>
        <p:nvSpPr>
          <p:cNvPr name="Freeform 11" id="11" descr="preencoded.png"/>
          <p:cNvSpPr/>
          <p:nvPr/>
        </p:nvSpPr>
        <p:spPr>
          <a:xfrm flipH="false" flipV="false" rot="0">
            <a:off x="6544866" y="5269259"/>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6">
              <a:extLst>
                <a:ext uri="{96DAC541-7B7A-43D3-8B79-37D633B846F1}">
                  <asvg:svgBlip xmlns:asvg="http://schemas.microsoft.com/office/drawing/2016/SVG/main" r:embed="rId7"/>
                </a:ext>
              </a:extLst>
            </a:blip>
            <a:stretch>
              <a:fillRect l="0" t="-3333" r="0" b="-3334"/>
            </a:stretch>
          </a:blipFill>
        </p:spPr>
      </p:sp>
      <p:sp>
        <p:nvSpPr>
          <p:cNvPr name="TextBox 12" id="12"/>
          <p:cNvSpPr txBox="true"/>
          <p:nvPr/>
        </p:nvSpPr>
        <p:spPr>
          <a:xfrm rot="0">
            <a:off x="7607941" y="5231159"/>
            <a:ext cx="404797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Master Event Calendar</a:t>
            </a:r>
          </a:p>
        </p:txBody>
      </p:sp>
      <p:sp>
        <p:nvSpPr>
          <p:cNvPr name="TextBox 13" id="13"/>
          <p:cNvSpPr txBox="true"/>
          <p:nvPr/>
        </p:nvSpPr>
        <p:spPr>
          <a:xfrm rot="0">
            <a:off x="7607941" y="5796553"/>
            <a:ext cx="413519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View all club events in one place, avoiding scheduling conflicts</a:t>
            </a:r>
          </a:p>
        </p:txBody>
      </p:sp>
      <p:sp>
        <p:nvSpPr>
          <p:cNvPr name="Freeform 14" id="14" descr="preencoded.png"/>
          <p:cNvSpPr/>
          <p:nvPr/>
        </p:nvSpPr>
        <p:spPr>
          <a:xfrm flipH="false" flipV="false" rot="0">
            <a:off x="12097493" y="5269259"/>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3160578" y="5231159"/>
            <a:ext cx="4135193" cy="923925"/>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Dedicated Recruitment Portal</a:t>
            </a:r>
          </a:p>
        </p:txBody>
      </p:sp>
      <p:sp>
        <p:nvSpPr>
          <p:cNvPr name="TextBox 16" id="16"/>
          <p:cNvSpPr txBox="true"/>
          <p:nvPr/>
        </p:nvSpPr>
        <p:spPr>
          <a:xfrm rot="0">
            <a:off x="13160578" y="6239466"/>
            <a:ext cx="413519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Track deadlines and register for events seamlessly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522334"/>
            <a:ext cx="12418219"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Platform Benefits for Stakeholders</a:t>
            </a:r>
          </a:p>
        </p:txBody>
      </p:sp>
      <p:grpSp>
        <p:nvGrpSpPr>
          <p:cNvPr name="Group 7" id="7"/>
          <p:cNvGrpSpPr/>
          <p:nvPr/>
        </p:nvGrpSpPr>
        <p:grpSpPr>
          <a:xfrm rot="0">
            <a:off x="992238" y="4032494"/>
            <a:ext cx="5245446" cy="3675012"/>
            <a:chOff x="0" y="0"/>
            <a:chExt cx="6993928" cy="4900016"/>
          </a:xfrm>
        </p:grpSpPr>
        <p:sp>
          <p:nvSpPr>
            <p:cNvPr name="Freeform 8" id="8"/>
            <p:cNvSpPr/>
            <p:nvPr/>
          </p:nvSpPr>
          <p:spPr>
            <a:xfrm flipH="false" flipV="false" rot="0">
              <a:off x="0" y="0"/>
              <a:ext cx="6993890" cy="4899914"/>
            </a:xfrm>
            <a:custGeom>
              <a:avLst/>
              <a:gdLst/>
              <a:ahLst/>
              <a:cxnLst/>
              <a:rect r="r" b="b" t="t" l="l"/>
              <a:pathLst>
                <a:path h="4899914" w="6993890">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6262B"/>
            </a:solidFill>
          </p:spPr>
        </p:sp>
      </p:grpSp>
      <p:grpSp>
        <p:nvGrpSpPr>
          <p:cNvPr name="Group 9" id="9"/>
          <p:cNvGrpSpPr/>
          <p:nvPr/>
        </p:nvGrpSpPr>
        <p:grpSpPr>
          <a:xfrm rot="0">
            <a:off x="1275759" y="4316016"/>
            <a:ext cx="850554" cy="850554"/>
            <a:chOff x="0" y="0"/>
            <a:chExt cx="1134072" cy="1134072"/>
          </a:xfrm>
        </p:grpSpPr>
        <p:sp>
          <p:nvSpPr>
            <p:cNvPr name="Freeform 10" id="10"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4"/>
              <a:stretch>
                <a:fillRect l="0" t="0" r="3" b="3"/>
              </a:stretch>
            </a:blipFill>
          </p:spPr>
        </p:sp>
      </p:grpSp>
      <p:sp>
        <p:nvSpPr>
          <p:cNvPr name="Freeform 11" id="11" descr="preencoded.png"/>
          <p:cNvSpPr/>
          <p:nvPr/>
        </p:nvSpPr>
        <p:spPr>
          <a:xfrm flipH="false" flipV="false" rot="0">
            <a:off x="1509712" y="4549826"/>
            <a:ext cx="382638" cy="382638"/>
          </a:xfrm>
          <a:custGeom>
            <a:avLst/>
            <a:gdLst/>
            <a:ahLst/>
            <a:cxnLst/>
            <a:rect r="r" b="b" t="t" l="l"/>
            <a:pathLst>
              <a:path h="382638" w="382638">
                <a:moveTo>
                  <a:pt x="0" y="0"/>
                </a:moveTo>
                <a:lnTo>
                  <a:pt x="382639" y="0"/>
                </a:lnTo>
                <a:lnTo>
                  <a:pt x="382639" y="382638"/>
                </a:lnTo>
                <a:lnTo>
                  <a:pt x="0" y="382638"/>
                </a:lnTo>
                <a:lnTo>
                  <a:pt x="0" y="0"/>
                </a:lnTo>
                <a:close/>
              </a:path>
            </a:pathLst>
          </a:custGeom>
          <a:blipFill>
            <a:blip r:embed="rId5">
              <a:extLst>
                <a:ext uri="{96DAC541-7B7A-43D3-8B79-37D633B846F1}">
                  <asvg:svgBlip xmlns:asvg="http://schemas.microsoft.com/office/drawing/2016/SVG/main" r:embed="rId6"/>
                </a:ext>
              </a:extLst>
            </a:blip>
            <a:stretch>
              <a:fillRect l="0" t="-17074" r="0" b="-17071"/>
            </a:stretch>
          </a:blipFill>
        </p:spPr>
      </p:sp>
      <p:sp>
        <p:nvSpPr>
          <p:cNvPr name="TextBox 12" id="12"/>
          <p:cNvSpPr txBox="true"/>
          <p:nvPr/>
        </p:nvSpPr>
        <p:spPr>
          <a:xfrm rot="0">
            <a:off x="1275759" y="5411991"/>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For Students</a:t>
            </a:r>
          </a:p>
        </p:txBody>
      </p:sp>
      <p:sp>
        <p:nvSpPr>
          <p:cNvPr name="TextBox 13" id="13"/>
          <p:cNvSpPr txBox="true"/>
          <p:nvPr/>
        </p:nvSpPr>
        <p:spPr>
          <a:xfrm rot="0">
            <a:off x="1275759" y="5977385"/>
            <a:ext cx="467841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One-stop solution for discovering clubs, viewing events, and tracking recruitment deadlines</a:t>
            </a:r>
          </a:p>
        </p:txBody>
      </p:sp>
      <p:grpSp>
        <p:nvGrpSpPr>
          <p:cNvPr name="Group 14" id="14"/>
          <p:cNvGrpSpPr/>
          <p:nvPr/>
        </p:nvGrpSpPr>
        <p:grpSpPr>
          <a:xfrm rot="0">
            <a:off x="6521206" y="4032494"/>
            <a:ext cx="5245446" cy="3675012"/>
            <a:chOff x="0" y="0"/>
            <a:chExt cx="6993928" cy="4900016"/>
          </a:xfrm>
        </p:grpSpPr>
        <p:sp>
          <p:nvSpPr>
            <p:cNvPr name="Freeform 15" id="15"/>
            <p:cNvSpPr/>
            <p:nvPr/>
          </p:nvSpPr>
          <p:spPr>
            <a:xfrm flipH="false" flipV="false" rot="0">
              <a:off x="0" y="0"/>
              <a:ext cx="6993890" cy="4899914"/>
            </a:xfrm>
            <a:custGeom>
              <a:avLst/>
              <a:gdLst/>
              <a:ahLst/>
              <a:cxnLst/>
              <a:rect r="r" b="b" t="t" l="l"/>
              <a:pathLst>
                <a:path h="4899914" w="6993890">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6262B"/>
            </a:solidFill>
          </p:spPr>
        </p:sp>
      </p:grpSp>
      <p:grpSp>
        <p:nvGrpSpPr>
          <p:cNvPr name="Group 16" id="16"/>
          <p:cNvGrpSpPr/>
          <p:nvPr/>
        </p:nvGrpSpPr>
        <p:grpSpPr>
          <a:xfrm rot="0">
            <a:off x="6804717" y="4316016"/>
            <a:ext cx="850554" cy="850554"/>
            <a:chOff x="0" y="0"/>
            <a:chExt cx="1134072" cy="1134072"/>
          </a:xfrm>
        </p:grpSpPr>
        <p:sp>
          <p:nvSpPr>
            <p:cNvPr name="Freeform 17" id="17"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7"/>
              <a:stretch>
                <a:fillRect l="0" t="0" r="3" b="3"/>
              </a:stretch>
            </a:blipFill>
          </p:spPr>
        </p:sp>
      </p:grpSp>
      <p:sp>
        <p:nvSpPr>
          <p:cNvPr name="Freeform 18" id="18" descr="preencoded.png"/>
          <p:cNvSpPr/>
          <p:nvPr/>
        </p:nvSpPr>
        <p:spPr>
          <a:xfrm flipH="false" flipV="false" rot="0">
            <a:off x="7038680" y="4549826"/>
            <a:ext cx="382638" cy="382638"/>
          </a:xfrm>
          <a:custGeom>
            <a:avLst/>
            <a:gdLst/>
            <a:ahLst/>
            <a:cxnLst/>
            <a:rect r="r" b="b" t="t" l="l"/>
            <a:pathLst>
              <a:path h="382638" w="382638">
                <a:moveTo>
                  <a:pt x="0" y="0"/>
                </a:moveTo>
                <a:lnTo>
                  <a:pt x="382638" y="0"/>
                </a:lnTo>
                <a:lnTo>
                  <a:pt x="382638" y="382638"/>
                </a:lnTo>
                <a:lnTo>
                  <a:pt x="0" y="382638"/>
                </a:lnTo>
                <a:lnTo>
                  <a:pt x="0" y="0"/>
                </a:lnTo>
                <a:close/>
              </a:path>
            </a:pathLst>
          </a:custGeom>
          <a:blipFill>
            <a:blip r:embed="rId8">
              <a:extLst>
                <a:ext uri="{96DAC541-7B7A-43D3-8B79-37D633B846F1}">
                  <asvg:svgBlip xmlns:asvg="http://schemas.microsoft.com/office/drawing/2016/SVG/main" r:embed="rId9"/>
                </a:ext>
              </a:extLst>
            </a:blip>
            <a:stretch>
              <a:fillRect l="0" t="-7316" r="0" b="-7318"/>
            </a:stretch>
          </a:blipFill>
        </p:spPr>
      </p:sp>
      <p:sp>
        <p:nvSpPr>
          <p:cNvPr name="TextBox 19" id="19"/>
          <p:cNvSpPr txBox="true"/>
          <p:nvPr/>
        </p:nvSpPr>
        <p:spPr>
          <a:xfrm rot="0">
            <a:off x="6804717" y="5411991"/>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For Club Executives</a:t>
            </a:r>
          </a:p>
        </p:txBody>
      </p:sp>
      <p:sp>
        <p:nvSpPr>
          <p:cNvPr name="TextBox 20" id="20"/>
          <p:cNvSpPr txBox="true"/>
          <p:nvPr/>
        </p:nvSpPr>
        <p:spPr>
          <a:xfrm rot="0">
            <a:off x="6804717" y="5977385"/>
            <a:ext cx="467841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Specialized dashboards to manage memberships, approve events, and analyze engagement</a:t>
            </a:r>
          </a:p>
        </p:txBody>
      </p:sp>
      <p:grpSp>
        <p:nvGrpSpPr>
          <p:cNvPr name="Group 21" id="21"/>
          <p:cNvGrpSpPr/>
          <p:nvPr/>
        </p:nvGrpSpPr>
        <p:grpSpPr>
          <a:xfrm rot="0">
            <a:off x="12050163" y="4032494"/>
            <a:ext cx="5245446" cy="3675012"/>
            <a:chOff x="0" y="0"/>
            <a:chExt cx="6993928" cy="4900016"/>
          </a:xfrm>
        </p:grpSpPr>
        <p:sp>
          <p:nvSpPr>
            <p:cNvPr name="Freeform 22" id="22"/>
            <p:cNvSpPr/>
            <p:nvPr/>
          </p:nvSpPr>
          <p:spPr>
            <a:xfrm flipH="false" flipV="false" rot="0">
              <a:off x="0" y="0"/>
              <a:ext cx="6993890" cy="4899914"/>
            </a:xfrm>
            <a:custGeom>
              <a:avLst/>
              <a:gdLst/>
              <a:ahLst/>
              <a:cxnLst/>
              <a:rect r="r" b="b" t="t" l="l"/>
              <a:pathLst>
                <a:path h="4899914" w="6993890">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6262B"/>
            </a:solidFill>
          </p:spPr>
        </p:sp>
      </p:grpSp>
      <p:grpSp>
        <p:nvGrpSpPr>
          <p:cNvPr name="Group 23" id="23"/>
          <p:cNvGrpSpPr/>
          <p:nvPr/>
        </p:nvGrpSpPr>
        <p:grpSpPr>
          <a:xfrm rot="0">
            <a:off x="12333684" y="4316016"/>
            <a:ext cx="850554" cy="850554"/>
            <a:chOff x="0" y="0"/>
            <a:chExt cx="1134072" cy="1134072"/>
          </a:xfrm>
        </p:grpSpPr>
        <p:sp>
          <p:nvSpPr>
            <p:cNvPr name="Freeform 24" id="24" descr="preencoded.png"/>
            <p:cNvSpPr/>
            <p:nvPr/>
          </p:nvSpPr>
          <p:spPr>
            <a:xfrm flipH="false" flipV="false" rot="0">
              <a:off x="0" y="0"/>
              <a:ext cx="1134110" cy="1134110"/>
            </a:xfrm>
            <a:custGeom>
              <a:avLst/>
              <a:gdLst/>
              <a:ahLst/>
              <a:cxnLst/>
              <a:rect r="r" b="b" t="t" l="l"/>
              <a:pathLst>
                <a:path h="1134110" w="1134110">
                  <a:moveTo>
                    <a:pt x="0" y="0"/>
                  </a:moveTo>
                  <a:lnTo>
                    <a:pt x="1134110" y="0"/>
                  </a:lnTo>
                  <a:lnTo>
                    <a:pt x="1134110" y="1134110"/>
                  </a:lnTo>
                  <a:lnTo>
                    <a:pt x="0" y="1134110"/>
                  </a:lnTo>
                  <a:lnTo>
                    <a:pt x="0" y="0"/>
                  </a:lnTo>
                  <a:close/>
                </a:path>
              </a:pathLst>
            </a:custGeom>
            <a:blipFill>
              <a:blip r:embed="rId10"/>
              <a:stretch>
                <a:fillRect l="0" t="0" r="3" b="3"/>
              </a:stretch>
            </a:blipFill>
          </p:spPr>
        </p:sp>
      </p:grpSp>
      <p:sp>
        <p:nvSpPr>
          <p:cNvPr name="Freeform 25" id="25" descr="preencoded.png"/>
          <p:cNvSpPr/>
          <p:nvPr/>
        </p:nvSpPr>
        <p:spPr>
          <a:xfrm flipH="false" flipV="false" rot="0">
            <a:off x="12567647" y="4549826"/>
            <a:ext cx="382638" cy="382638"/>
          </a:xfrm>
          <a:custGeom>
            <a:avLst/>
            <a:gdLst/>
            <a:ahLst/>
            <a:cxnLst/>
            <a:rect r="r" b="b" t="t" l="l"/>
            <a:pathLst>
              <a:path h="382638" w="382638">
                <a:moveTo>
                  <a:pt x="0" y="0"/>
                </a:moveTo>
                <a:lnTo>
                  <a:pt x="382638" y="0"/>
                </a:lnTo>
                <a:lnTo>
                  <a:pt x="382638" y="382638"/>
                </a:lnTo>
                <a:lnTo>
                  <a:pt x="0" y="3826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12333684" y="5411991"/>
            <a:ext cx="4678413" cy="923925"/>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For Office of Student Affairs</a:t>
            </a:r>
          </a:p>
        </p:txBody>
      </p:sp>
      <p:sp>
        <p:nvSpPr>
          <p:cNvPr name="TextBox 27" id="27"/>
          <p:cNvSpPr txBox="true"/>
          <p:nvPr/>
        </p:nvSpPr>
        <p:spPr>
          <a:xfrm rot="0">
            <a:off x="12333684" y="6420298"/>
            <a:ext cx="467841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Powerful tools for oversight, event approval, and engagement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820295"/>
            <a:ext cx="10630795"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Key Features and Capabilities</a:t>
            </a:r>
          </a:p>
        </p:txBody>
      </p:sp>
      <p:sp>
        <p:nvSpPr>
          <p:cNvPr name="TextBox 7" id="7"/>
          <p:cNvSpPr txBox="true"/>
          <p:nvPr/>
        </p:nvSpPr>
        <p:spPr>
          <a:xfrm rot="0">
            <a:off x="992238" y="4434040"/>
            <a:ext cx="4150671"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Core Platform Features</a:t>
            </a:r>
          </a:p>
        </p:txBody>
      </p:sp>
      <p:sp>
        <p:nvSpPr>
          <p:cNvPr name="TextBox 8" id="8"/>
          <p:cNvSpPr txBox="true"/>
          <p:nvPr/>
        </p:nvSpPr>
        <p:spPr>
          <a:xfrm rot="0">
            <a:off x="992238" y="5112839"/>
            <a:ext cx="7805890" cy="2197598"/>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Centralized searchable directory of all active clubs</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Master event calendar preventing scheduling conflicts</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Dedicated recruitment portal with deadline tracking</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Automated event registration process</a:t>
            </a:r>
          </a:p>
        </p:txBody>
      </p:sp>
      <p:grpSp>
        <p:nvGrpSpPr>
          <p:cNvPr name="Group 9" id="9"/>
          <p:cNvGrpSpPr/>
          <p:nvPr/>
        </p:nvGrpSpPr>
        <p:grpSpPr>
          <a:xfrm rot="0">
            <a:off x="9295209" y="4188619"/>
            <a:ext cx="8214274" cy="3220936"/>
            <a:chOff x="0" y="0"/>
            <a:chExt cx="10952366" cy="4294581"/>
          </a:xfrm>
        </p:grpSpPr>
        <p:sp>
          <p:nvSpPr>
            <p:cNvPr name="Freeform 10" id="10"/>
            <p:cNvSpPr/>
            <p:nvPr/>
          </p:nvSpPr>
          <p:spPr>
            <a:xfrm flipH="false" flipV="false" rot="0">
              <a:off x="0" y="0"/>
              <a:ext cx="10952353" cy="4294505"/>
            </a:xfrm>
            <a:custGeom>
              <a:avLst/>
              <a:gdLst/>
              <a:ahLst/>
              <a:cxnLst/>
              <a:rect r="r" b="b" t="t" l="l"/>
              <a:pathLst>
                <a:path h="4294505" w="10952353">
                  <a:moveTo>
                    <a:pt x="0" y="56642"/>
                  </a:moveTo>
                  <a:cubicBezTo>
                    <a:pt x="0" y="25400"/>
                    <a:pt x="25400" y="0"/>
                    <a:pt x="56642" y="0"/>
                  </a:cubicBezTo>
                  <a:lnTo>
                    <a:pt x="10895711" y="0"/>
                  </a:lnTo>
                  <a:cubicBezTo>
                    <a:pt x="10927080" y="0"/>
                    <a:pt x="10952353" y="25400"/>
                    <a:pt x="10952353" y="56642"/>
                  </a:cubicBezTo>
                  <a:lnTo>
                    <a:pt x="10952353" y="4237863"/>
                  </a:lnTo>
                  <a:cubicBezTo>
                    <a:pt x="10952353" y="4269232"/>
                    <a:pt x="10926953" y="4294505"/>
                    <a:pt x="10895711" y="4294505"/>
                  </a:cubicBezTo>
                  <a:lnTo>
                    <a:pt x="56642" y="4294505"/>
                  </a:lnTo>
                  <a:cubicBezTo>
                    <a:pt x="25273" y="4294505"/>
                    <a:pt x="0" y="4269105"/>
                    <a:pt x="0" y="4237863"/>
                  </a:cubicBezTo>
                  <a:close/>
                </a:path>
              </a:pathLst>
            </a:custGeom>
            <a:solidFill>
              <a:srgbClr val="97B8FF"/>
            </a:solidFill>
          </p:spPr>
        </p:sp>
      </p:grpSp>
      <p:sp>
        <p:nvSpPr>
          <p:cNvPr name="TextBox 11" id="11"/>
          <p:cNvSpPr txBox="true"/>
          <p:nvPr/>
        </p:nvSpPr>
        <p:spPr>
          <a:xfrm rot="0">
            <a:off x="9578731" y="4434040"/>
            <a:ext cx="3735286" cy="481012"/>
          </a:xfrm>
          <a:prstGeom prst="rect">
            <a:avLst/>
          </a:prstGeom>
        </p:spPr>
        <p:txBody>
          <a:bodyPr anchor="t" rtlCol="false" tIns="0" lIns="0" bIns="0" rIns="0">
            <a:spAutoFit/>
          </a:bodyPr>
          <a:lstStyle/>
          <a:p>
            <a:pPr algn="l">
              <a:lnSpc>
                <a:spcPts val="3437"/>
              </a:lnSpc>
            </a:pPr>
            <a:r>
              <a:rPr lang="en-US" sz="2750">
                <a:solidFill>
                  <a:srgbClr val="000000"/>
                </a:solidFill>
                <a:latin typeface="Arimo"/>
                <a:ea typeface="Arimo"/>
                <a:cs typeface="Arimo"/>
                <a:sym typeface="Arimo"/>
              </a:rPr>
              <a:t>Administrative Tools</a:t>
            </a:r>
          </a:p>
        </p:txBody>
      </p:sp>
      <p:sp>
        <p:nvSpPr>
          <p:cNvPr name="TextBox 12" id="12"/>
          <p:cNvSpPr txBox="true"/>
          <p:nvPr/>
        </p:nvSpPr>
        <p:spPr>
          <a:xfrm rot="0">
            <a:off x="9578731" y="5112839"/>
            <a:ext cx="7647232" cy="2197598"/>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000000"/>
                </a:solidFill>
                <a:latin typeface="Noto Sans"/>
                <a:ea typeface="Noto Sans"/>
                <a:cs typeface="Noto Sans"/>
                <a:sym typeface="Noto Sans"/>
              </a:rPr>
              <a:t>Specialized dashboards for club executives</a:t>
            </a:r>
          </a:p>
          <a:p>
            <a:pPr algn="l" marL="329902" indent="-164951" lvl="1">
              <a:lnSpc>
                <a:spcPts val="3562"/>
              </a:lnSpc>
              <a:buFont typeface="Arial"/>
              <a:buChar char="•"/>
            </a:pPr>
            <a:r>
              <a:rPr lang="en-US" sz="2187">
                <a:solidFill>
                  <a:srgbClr val="000000"/>
                </a:solidFill>
                <a:latin typeface="Noto Sans"/>
                <a:ea typeface="Noto Sans"/>
                <a:cs typeface="Noto Sans"/>
                <a:sym typeface="Noto Sans"/>
              </a:rPr>
              <a:t>Membership management systems</a:t>
            </a:r>
          </a:p>
          <a:p>
            <a:pPr algn="l" marL="329902" indent="-164951" lvl="1">
              <a:lnSpc>
                <a:spcPts val="3562"/>
              </a:lnSpc>
              <a:buFont typeface="Arial"/>
              <a:buChar char="•"/>
            </a:pPr>
            <a:r>
              <a:rPr lang="en-US" sz="2187">
                <a:solidFill>
                  <a:srgbClr val="000000"/>
                </a:solidFill>
                <a:latin typeface="Noto Sans"/>
                <a:ea typeface="Noto Sans"/>
                <a:cs typeface="Noto Sans"/>
                <a:sym typeface="Noto Sans"/>
              </a:rPr>
              <a:t>Event approval workflows</a:t>
            </a:r>
          </a:p>
          <a:p>
            <a:pPr algn="l" marL="329902" indent="-164951" lvl="1">
              <a:lnSpc>
                <a:spcPts val="3562"/>
              </a:lnSpc>
              <a:buFont typeface="Arial"/>
              <a:buChar char="•"/>
            </a:pPr>
            <a:r>
              <a:rPr lang="en-US" sz="2187">
                <a:solidFill>
                  <a:srgbClr val="000000"/>
                </a:solidFill>
                <a:latin typeface="Noto Sans"/>
                <a:ea typeface="Noto Sans"/>
                <a:cs typeface="Noto Sans"/>
                <a:sym typeface="Noto Sans"/>
              </a:rPr>
              <a:t>Student engagement analytics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3906145"/>
            <a:ext cx="10039055"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Conclusion: A Step Forward</a:t>
            </a:r>
          </a:p>
        </p:txBody>
      </p:sp>
      <p:sp>
        <p:nvSpPr>
          <p:cNvPr name="TextBox 7" id="7"/>
          <p:cNvSpPr txBox="true"/>
          <p:nvPr/>
        </p:nvSpPr>
        <p:spPr>
          <a:xfrm rot="0">
            <a:off x="992238" y="5330581"/>
            <a:ext cx="1630352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NSU ClubHub centralizes club management to improve accessibility, efficiency, and transparency. It modernizes extracurricular administration, boosts student engagement, and simplifies oversight for staff.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DAHCumJaF_Y</dc:identifier>
  <dcterms:modified xsi:type="dcterms:W3CDTF">2011-08-01T06:04:30Z</dcterms:modified>
  <cp:revision>1</cp:revision>
  <dc:title>Literature-Review-Current-Club-Management-Methods-and-Identified-Gaps.pptx</dc:title>
</cp:coreProperties>
</file>
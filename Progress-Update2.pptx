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mo Bold" charset="1" panose="020B0704020202020204"/>
      <p:regular r:id="rId15"/>
    </p:embeddedFont>
    <p:embeddedFont>
      <p:font typeface="Arimo" charset="1" panose="020B06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51.png" Type="http://schemas.openxmlformats.org/officeDocument/2006/relationships/image"/><Relationship Id="rId13" Target="../media/image52.svg" Type="http://schemas.openxmlformats.org/officeDocument/2006/relationships/image"/><Relationship Id="rId2" Target="../media/image1.pn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3810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989059"/>
            <a:ext cx="7088238" cy="109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9"/>
              </a:lnSpc>
            </a:pPr>
            <a:r>
              <a:rPr lang="en-US" sz="5562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NSU ClubHub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4648943"/>
            <a:ext cx="8095964" cy="464725"/>
            <a:chOff x="0" y="0"/>
            <a:chExt cx="10794619" cy="6196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94619" cy="619633"/>
            </a:xfrm>
            <a:custGeom>
              <a:avLst/>
              <a:gdLst/>
              <a:ahLst/>
              <a:cxnLst/>
              <a:rect r="r" b="b" t="t" l="l"/>
              <a:pathLst>
                <a:path h="619633" w="10794619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0667619" y="0"/>
                  </a:lnTo>
                  <a:cubicBezTo>
                    <a:pt x="10737723" y="0"/>
                    <a:pt x="10794619" y="56896"/>
                    <a:pt x="10794619" y="127000"/>
                  </a:cubicBezTo>
                  <a:lnTo>
                    <a:pt x="10794619" y="492633"/>
                  </a:lnTo>
                  <a:cubicBezTo>
                    <a:pt x="10794619" y="562737"/>
                    <a:pt x="10737723" y="619633"/>
                    <a:pt x="10667619" y="619633"/>
                  </a:cubicBezTo>
                  <a:lnTo>
                    <a:pt x="127000" y="619633"/>
                  </a:lnTo>
                  <a:cubicBezTo>
                    <a:pt x="56896" y="619633"/>
                    <a:pt x="0" y="562737"/>
                    <a:pt x="0" y="492633"/>
                  </a:cubicBezTo>
                  <a:close/>
                </a:path>
              </a:pathLst>
            </a:custGeom>
            <a:solidFill>
              <a:srgbClr val="00194D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62345" y="4638675"/>
            <a:ext cx="7755731" cy="390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75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UPDATE 2 — COMPLETE FRONTEND REDESIGN OF STUDENT DASHBOARD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356469"/>
            <a:ext cx="16303523" cy="44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Next.js 15 + React 19 + TypeScript  ·  Group 6  ·  CSE 299  ·  North South University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82713" y="1030186"/>
            <a:ext cx="2606421" cy="521970"/>
          </a:xfrm>
          <a:custGeom>
            <a:avLst/>
            <a:gdLst/>
            <a:ahLst/>
            <a:cxnLst/>
            <a:rect r="r" b="b" t="t" l="l"/>
            <a:pathLst>
              <a:path h="521970" w="2606421">
                <a:moveTo>
                  <a:pt x="0" y="0"/>
                </a:moveTo>
                <a:lnTo>
                  <a:pt x="2606421" y="0"/>
                </a:lnTo>
                <a:lnTo>
                  <a:pt x="2606421" y="521970"/>
                </a:lnTo>
                <a:lnTo>
                  <a:pt x="0" y="5219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81395" y="1048493"/>
            <a:ext cx="2209057" cy="390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750">
                <a:solidFill>
                  <a:srgbClr val="6296FF"/>
                </a:solidFill>
                <a:latin typeface="Arimo"/>
                <a:ea typeface="Arimo"/>
                <a:cs typeface="Arimo"/>
                <a:sym typeface="Arimo"/>
              </a:rPr>
              <a:t>PROJECT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1484557"/>
            <a:ext cx="13650668" cy="109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9"/>
              </a:lnSpc>
            </a:pPr>
            <a:r>
              <a:rPr lang="en-US" sz="5562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One Portal. Every Club. All in One Place.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8041" y="3002604"/>
            <a:ext cx="9063895" cy="6244685"/>
            <a:chOff x="0" y="0"/>
            <a:chExt cx="12085193" cy="83262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085193" cy="8326247"/>
            </a:xfrm>
            <a:custGeom>
              <a:avLst/>
              <a:gdLst/>
              <a:ahLst/>
              <a:cxnLst/>
              <a:rect r="r" b="b" t="t" l="l"/>
              <a:pathLst>
                <a:path h="8326247" w="12085193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1813032" y="0"/>
                  </a:lnTo>
                  <a:cubicBezTo>
                    <a:pt x="11963400" y="0"/>
                    <a:pt x="12085193" y="121920"/>
                    <a:pt x="12085193" y="272161"/>
                  </a:cubicBezTo>
                  <a:lnTo>
                    <a:pt x="12085193" y="8054086"/>
                  </a:lnTo>
                  <a:cubicBezTo>
                    <a:pt x="12085193" y="8204454"/>
                    <a:pt x="11963274" y="8326247"/>
                    <a:pt x="11813032" y="8326247"/>
                  </a:cubicBezTo>
                  <a:lnTo>
                    <a:pt x="272161" y="8326247"/>
                  </a:lnTo>
                  <a:cubicBezTo>
                    <a:pt x="121920" y="8326247"/>
                    <a:pt x="0" y="8204327"/>
                    <a:pt x="0" y="8054086"/>
                  </a:cubicBezTo>
                  <a:close/>
                </a:path>
              </a:pathLst>
            </a:custGeom>
            <a:solidFill>
              <a:srgbClr val="0D0326">
                <a:alpha val="81176"/>
              </a:srgbClr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71562" y="3171825"/>
            <a:ext cx="3888286" cy="57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What is NSU ClubHub?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1562" y="3954066"/>
            <a:ext cx="8496891" cy="155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A university club management portal for North South University, built as a CSE 299 Junior Design project. Students can log in, browse clubs, track events, apply for recruitment, and manage their profile — all from a single, polished interface.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1562" y="5683148"/>
            <a:ext cx="8496891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Current state:</a:t>
            </a: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UI/UX prototype powered by hardcoded mock data. Backend integration is planned for the next update.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49065" y="3171825"/>
            <a:ext cx="3544043" cy="57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Mock Data Scope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334777" y="4051402"/>
            <a:ext cx="3364897" cy="2502408"/>
          </a:xfrm>
          <a:custGeom>
            <a:avLst/>
            <a:gdLst/>
            <a:ahLst/>
            <a:cxnLst/>
            <a:rect r="r" b="b" t="t" l="l"/>
            <a:pathLst>
              <a:path h="2502408" w="3364897">
                <a:moveTo>
                  <a:pt x="0" y="0"/>
                </a:moveTo>
                <a:lnTo>
                  <a:pt x="3364897" y="0"/>
                </a:lnTo>
                <a:lnTo>
                  <a:pt x="3364897" y="2502408"/>
                </a:lnTo>
                <a:lnTo>
                  <a:pt x="0" y="25024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661152" y="4263476"/>
            <a:ext cx="2712091" cy="57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9 Clubs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61152" y="5045716"/>
            <a:ext cx="2712091" cy="1181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Tech, Arts, Academic, Sports, Cultural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954573" y="4051402"/>
            <a:ext cx="3364897" cy="2502408"/>
          </a:xfrm>
          <a:custGeom>
            <a:avLst/>
            <a:gdLst/>
            <a:ahLst/>
            <a:cxnLst/>
            <a:rect r="r" b="b" t="t" l="l"/>
            <a:pathLst>
              <a:path h="2502408" w="3364897">
                <a:moveTo>
                  <a:pt x="0" y="0"/>
                </a:moveTo>
                <a:lnTo>
                  <a:pt x="3364896" y="0"/>
                </a:lnTo>
                <a:lnTo>
                  <a:pt x="3364896" y="2502408"/>
                </a:lnTo>
                <a:lnTo>
                  <a:pt x="0" y="25024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280947" y="4263476"/>
            <a:ext cx="2712091" cy="57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7 Events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80947" y="5045716"/>
            <a:ext cx="2712091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Spanning March 2026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334777" y="6808737"/>
            <a:ext cx="3364802" cy="2133886"/>
          </a:xfrm>
          <a:custGeom>
            <a:avLst/>
            <a:gdLst/>
            <a:ahLst/>
            <a:cxnLst/>
            <a:rect r="r" b="b" t="t" l="l"/>
            <a:pathLst>
              <a:path h="2133886" w="3364802">
                <a:moveTo>
                  <a:pt x="0" y="0"/>
                </a:moveTo>
                <a:lnTo>
                  <a:pt x="3364802" y="0"/>
                </a:lnTo>
                <a:lnTo>
                  <a:pt x="3364802" y="2133885"/>
                </a:lnTo>
                <a:lnTo>
                  <a:pt x="0" y="21338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661152" y="7020820"/>
            <a:ext cx="2712091" cy="57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5 Roles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61152" y="7803061"/>
            <a:ext cx="2712091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4 application statuses tracked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954573" y="6808737"/>
            <a:ext cx="3364801" cy="2133886"/>
          </a:xfrm>
          <a:custGeom>
            <a:avLst/>
            <a:gdLst/>
            <a:ahLst/>
            <a:cxnLst/>
            <a:rect r="r" b="b" t="t" l="l"/>
            <a:pathLst>
              <a:path h="2133886" w="3364801">
                <a:moveTo>
                  <a:pt x="0" y="0"/>
                </a:moveTo>
                <a:lnTo>
                  <a:pt x="3364801" y="0"/>
                </a:lnTo>
                <a:lnTo>
                  <a:pt x="3364801" y="2133885"/>
                </a:lnTo>
                <a:lnTo>
                  <a:pt x="0" y="21338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280947" y="7020820"/>
            <a:ext cx="2712091" cy="57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5 Alerts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80947" y="7803061"/>
            <a:ext cx="2712091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Read / unread notification states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82713" y="1781918"/>
            <a:ext cx="1717929" cy="521970"/>
          </a:xfrm>
          <a:custGeom>
            <a:avLst/>
            <a:gdLst/>
            <a:ahLst/>
            <a:cxnLst/>
            <a:rect r="r" b="b" t="t" l="l"/>
            <a:pathLst>
              <a:path h="521970" w="1717929">
                <a:moveTo>
                  <a:pt x="0" y="0"/>
                </a:moveTo>
                <a:lnTo>
                  <a:pt x="1717929" y="0"/>
                </a:lnTo>
                <a:lnTo>
                  <a:pt x="1717929" y="521970"/>
                </a:lnTo>
                <a:lnTo>
                  <a:pt x="0" y="5219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81395" y="1800225"/>
            <a:ext cx="1320556" cy="390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750">
                <a:solidFill>
                  <a:srgbClr val="6296FF"/>
                </a:solidFill>
                <a:latin typeface="Arimo"/>
                <a:ea typeface="Arimo"/>
                <a:cs typeface="Arimo"/>
                <a:sym typeface="Arimo"/>
              </a:rPr>
              <a:t>TECH STACK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2236289"/>
            <a:ext cx="14017828" cy="109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9"/>
              </a:lnSpc>
            </a:pPr>
            <a:r>
              <a:rPr lang="en-US" sz="5562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Built on a Modern, Type-Safe Foundation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992238" y="3754336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999" t="0" r="-600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55314" y="3640036"/>
            <a:ext cx="4035628" cy="57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Next.js 15 + App Router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55314" y="4308872"/>
            <a:ext cx="6911426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File-based routing and server components for fast, scalable page architecture.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321108" y="3754336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2000" t="0" r="-11999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384184" y="3640036"/>
            <a:ext cx="3764309" cy="57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React 19 + TypeScript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84184" y="4308872"/>
            <a:ext cx="6911578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Type-safe component architecture eliminating runtime errors before they happen.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92238" y="5689102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6666" r="0" b="-1666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055314" y="5574802"/>
            <a:ext cx="4353668" cy="57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Tailwind CSS + shadcn/ui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55314" y="6243638"/>
            <a:ext cx="6911426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Utility-first styling paired with accessible, headless Radix UI primitives.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9321108" y="5689102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384184" y="5574802"/>
            <a:ext cx="4365422" cy="57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Syne + Plus Jakarta Sans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84184" y="6243638"/>
            <a:ext cx="6911578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Syne for bold display headings, Plus Jakarta Sans for clean, readable body text.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238" y="7375769"/>
            <a:ext cx="16303466" cy="1119568"/>
            <a:chOff x="0" y="0"/>
            <a:chExt cx="21737955" cy="14927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37955" cy="1492758"/>
            </a:xfrm>
            <a:custGeom>
              <a:avLst/>
              <a:gdLst/>
              <a:ahLst/>
              <a:cxnLst/>
              <a:rect r="r" b="b" t="t" l="l"/>
              <a:pathLst>
                <a:path h="1492758" w="2173795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1334008"/>
                  </a:lnTo>
                  <a:cubicBezTo>
                    <a:pt x="21737955" y="1421638"/>
                    <a:pt x="21666836" y="1492758"/>
                    <a:pt x="21579205" y="1492758"/>
                  </a:cubicBezTo>
                  <a:lnTo>
                    <a:pt x="158750" y="1492758"/>
                  </a:lnTo>
                  <a:cubicBezTo>
                    <a:pt x="71120" y="1492758"/>
                    <a:pt x="0" y="1421638"/>
                    <a:pt x="0" y="1334008"/>
                  </a:cubicBezTo>
                  <a:close/>
                </a:path>
              </a:pathLst>
            </a:custGeom>
            <a:solidFill>
              <a:srgbClr val="00194D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75759" y="7758265"/>
            <a:ext cx="354330" cy="283559"/>
            <a:chOff x="0" y="0"/>
            <a:chExt cx="472440" cy="378079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6" t="0" r="-16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913630" y="7653928"/>
            <a:ext cx="15098611" cy="44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Planned (not yet implemented):</a:t>
            </a: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Neon Postgres · Drizzle ORM · NextAuth v5 · Resend Email · Zod Validation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22" cy="514350"/>
            <a:chOff x="0" y="0"/>
            <a:chExt cx="2870962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2" t="0" r="-82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490197" y="742798"/>
            <a:ext cx="1220248" cy="340614"/>
          </a:xfrm>
          <a:custGeom>
            <a:avLst/>
            <a:gdLst/>
            <a:ahLst/>
            <a:cxnLst/>
            <a:rect r="r" b="b" t="t" l="l"/>
            <a:pathLst>
              <a:path h="340614" w="1220248">
                <a:moveTo>
                  <a:pt x="0" y="0"/>
                </a:moveTo>
                <a:lnTo>
                  <a:pt x="1220248" y="0"/>
                </a:lnTo>
                <a:lnTo>
                  <a:pt x="1220248" y="340614"/>
                </a:lnTo>
                <a:lnTo>
                  <a:pt x="0" y="3406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34253" y="810073"/>
            <a:ext cx="932107" cy="187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187">
                <a:solidFill>
                  <a:srgbClr val="6296FF"/>
                </a:solidFill>
                <a:latin typeface="Arimo"/>
                <a:ea typeface="Arimo"/>
                <a:cs typeface="Arimo"/>
                <a:sym typeface="Arimo"/>
              </a:rPr>
              <a:t>PAGES BUILT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99722" y="992829"/>
            <a:ext cx="6018314" cy="759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3"/>
              </a:lnSpc>
            </a:pPr>
            <a:r>
              <a:rPr lang="en-US" sz="3748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6 Fully Redesigned Pages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485434" y="1933870"/>
            <a:ext cx="13317093" cy="1184053"/>
          </a:xfrm>
          <a:custGeom>
            <a:avLst/>
            <a:gdLst/>
            <a:ahLst/>
            <a:cxnLst/>
            <a:rect r="r" b="b" t="t" l="l"/>
            <a:pathLst>
              <a:path h="1184053" w="13317093">
                <a:moveTo>
                  <a:pt x="0" y="0"/>
                </a:moveTo>
                <a:lnTo>
                  <a:pt x="13317093" y="0"/>
                </a:lnTo>
                <a:lnTo>
                  <a:pt x="13317093" y="1184053"/>
                </a:lnTo>
                <a:lnTo>
                  <a:pt x="0" y="11840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528297" y="1976733"/>
            <a:ext cx="770287" cy="1098328"/>
            <a:chOff x="0" y="0"/>
            <a:chExt cx="1027049" cy="14644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7049" cy="1464437"/>
            </a:xfrm>
            <a:custGeom>
              <a:avLst/>
              <a:gdLst/>
              <a:ahLst/>
              <a:cxnLst/>
              <a:rect r="r" b="b" t="t" l="l"/>
              <a:pathLst>
                <a:path h="1464437" w="1027049">
                  <a:moveTo>
                    <a:pt x="0" y="62103"/>
                  </a:moveTo>
                  <a:cubicBezTo>
                    <a:pt x="0" y="27813"/>
                    <a:pt x="27813" y="0"/>
                    <a:pt x="62103" y="0"/>
                  </a:cubicBezTo>
                  <a:lnTo>
                    <a:pt x="964946" y="0"/>
                  </a:lnTo>
                  <a:cubicBezTo>
                    <a:pt x="999236" y="0"/>
                    <a:pt x="1027049" y="27813"/>
                    <a:pt x="1027049" y="62103"/>
                  </a:cubicBezTo>
                  <a:lnTo>
                    <a:pt x="1027049" y="1402334"/>
                  </a:lnTo>
                  <a:cubicBezTo>
                    <a:pt x="1027049" y="1436624"/>
                    <a:pt x="999236" y="1464437"/>
                    <a:pt x="964946" y="1464437"/>
                  </a:cubicBezTo>
                  <a:lnTo>
                    <a:pt x="62103" y="1464437"/>
                  </a:lnTo>
                  <a:cubicBezTo>
                    <a:pt x="27813" y="1464437"/>
                    <a:pt x="0" y="1436624"/>
                    <a:pt x="0" y="1402334"/>
                  </a:cubicBezTo>
                  <a:close/>
                </a:path>
              </a:pathLst>
            </a:custGeom>
            <a:solidFill>
              <a:srgbClr val="10162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759421" y="2395242"/>
            <a:ext cx="288874" cy="31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2249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29295" y="2074069"/>
            <a:ext cx="2407291" cy="40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Landing / Login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29295" y="2560739"/>
            <a:ext cx="12137822" cy="210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5"/>
              </a:lnSpc>
            </a:pPr>
            <a:r>
              <a:rPr lang="en-US" sz="15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Split-layout hero, login form with role-redirect logic, animated background.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485434" y="3220041"/>
            <a:ext cx="13317093" cy="1184053"/>
          </a:xfrm>
          <a:custGeom>
            <a:avLst/>
            <a:gdLst/>
            <a:ahLst/>
            <a:cxnLst/>
            <a:rect r="r" b="b" t="t" l="l"/>
            <a:pathLst>
              <a:path h="1184053" w="13317093">
                <a:moveTo>
                  <a:pt x="0" y="0"/>
                </a:moveTo>
                <a:lnTo>
                  <a:pt x="13317093" y="0"/>
                </a:lnTo>
                <a:lnTo>
                  <a:pt x="13317093" y="1184052"/>
                </a:lnTo>
                <a:lnTo>
                  <a:pt x="0" y="11840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528297" y="3262903"/>
            <a:ext cx="770287" cy="1098328"/>
            <a:chOff x="0" y="0"/>
            <a:chExt cx="1027049" cy="14644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7049" cy="1464437"/>
            </a:xfrm>
            <a:custGeom>
              <a:avLst/>
              <a:gdLst/>
              <a:ahLst/>
              <a:cxnLst/>
              <a:rect r="r" b="b" t="t" l="l"/>
              <a:pathLst>
                <a:path h="1464437" w="1027049">
                  <a:moveTo>
                    <a:pt x="0" y="62103"/>
                  </a:moveTo>
                  <a:cubicBezTo>
                    <a:pt x="0" y="27813"/>
                    <a:pt x="27813" y="0"/>
                    <a:pt x="62103" y="0"/>
                  </a:cubicBezTo>
                  <a:lnTo>
                    <a:pt x="964946" y="0"/>
                  </a:lnTo>
                  <a:cubicBezTo>
                    <a:pt x="999236" y="0"/>
                    <a:pt x="1027049" y="27813"/>
                    <a:pt x="1027049" y="62103"/>
                  </a:cubicBezTo>
                  <a:lnTo>
                    <a:pt x="1027049" y="1402334"/>
                  </a:lnTo>
                  <a:cubicBezTo>
                    <a:pt x="1027049" y="1436624"/>
                    <a:pt x="999236" y="1464437"/>
                    <a:pt x="964946" y="1464437"/>
                  </a:cubicBezTo>
                  <a:lnTo>
                    <a:pt x="62103" y="1464437"/>
                  </a:lnTo>
                  <a:cubicBezTo>
                    <a:pt x="27813" y="1464437"/>
                    <a:pt x="0" y="1436624"/>
                    <a:pt x="0" y="1402334"/>
                  </a:cubicBezTo>
                  <a:close/>
                </a:path>
              </a:pathLst>
            </a:custGeom>
            <a:solidFill>
              <a:srgbClr val="10162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759421" y="3681413"/>
            <a:ext cx="288874" cy="31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2249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29295" y="3360239"/>
            <a:ext cx="2407291" cy="40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Dashboard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29295" y="3846909"/>
            <a:ext cx="12137822" cy="210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5"/>
              </a:lnSpc>
            </a:pPr>
            <a:r>
              <a:rPr lang="en-US" sz="15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Stats row, dismissible announcements, open recruitments grid, mini calendar.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2485434" y="4506220"/>
            <a:ext cx="13317093" cy="1184053"/>
          </a:xfrm>
          <a:custGeom>
            <a:avLst/>
            <a:gdLst/>
            <a:ahLst/>
            <a:cxnLst/>
            <a:rect r="r" b="b" t="t" l="l"/>
            <a:pathLst>
              <a:path h="1184053" w="13317093">
                <a:moveTo>
                  <a:pt x="0" y="0"/>
                </a:moveTo>
                <a:lnTo>
                  <a:pt x="13317093" y="0"/>
                </a:lnTo>
                <a:lnTo>
                  <a:pt x="13317093" y="1184053"/>
                </a:lnTo>
                <a:lnTo>
                  <a:pt x="0" y="11840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2528297" y="4549083"/>
            <a:ext cx="770287" cy="1098328"/>
            <a:chOff x="0" y="0"/>
            <a:chExt cx="1027049" cy="146443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7049" cy="1464437"/>
            </a:xfrm>
            <a:custGeom>
              <a:avLst/>
              <a:gdLst/>
              <a:ahLst/>
              <a:cxnLst/>
              <a:rect r="r" b="b" t="t" l="l"/>
              <a:pathLst>
                <a:path h="1464437" w="1027049">
                  <a:moveTo>
                    <a:pt x="0" y="62103"/>
                  </a:moveTo>
                  <a:cubicBezTo>
                    <a:pt x="0" y="27813"/>
                    <a:pt x="27813" y="0"/>
                    <a:pt x="62103" y="0"/>
                  </a:cubicBezTo>
                  <a:lnTo>
                    <a:pt x="964946" y="0"/>
                  </a:lnTo>
                  <a:cubicBezTo>
                    <a:pt x="999236" y="0"/>
                    <a:pt x="1027049" y="27813"/>
                    <a:pt x="1027049" y="62103"/>
                  </a:cubicBezTo>
                  <a:lnTo>
                    <a:pt x="1027049" y="1402334"/>
                  </a:lnTo>
                  <a:cubicBezTo>
                    <a:pt x="1027049" y="1436624"/>
                    <a:pt x="999236" y="1464437"/>
                    <a:pt x="964946" y="1464437"/>
                  </a:cubicBezTo>
                  <a:lnTo>
                    <a:pt x="62103" y="1464437"/>
                  </a:lnTo>
                  <a:cubicBezTo>
                    <a:pt x="27813" y="1464437"/>
                    <a:pt x="0" y="1436624"/>
                    <a:pt x="0" y="1402334"/>
                  </a:cubicBezTo>
                  <a:close/>
                </a:path>
              </a:pathLst>
            </a:custGeom>
            <a:solidFill>
              <a:srgbClr val="101620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759421" y="4967583"/>
            <a:ext cx="288874" cy="31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2249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429295" y="4646409"/>
            <a:ext cx="2407291" cy="40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Club Directory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429295" y="5133080"/>
            <a:ext cx="12137822" cy="210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5"/>
              </a:lnSpc>
            </a:pPr>
            <a:r>
              <a:rPr lang="en-US" sz="15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Real-time search, category filters, shimmer loading skeletons, 9-club card grid.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2485434" y="5792391"/>
            <a:ext cx="13317093" cy="1184053"/>
          </a:xfrm>
          <a:custGeom>
            <a:avLst/>
            <a:gdLst/>
            <a:ahLst/>
            <a:cxnLst/>
            <a:rect r="r" b="b" t="t" l="l"/>
            <a:pathLst>
              <a:path h="1184053" w="13317093">
                <a:moveTo>
                  <a:pt x="0" y="0"/>
                </a:moveTo>
                <a:lnTo>
                  <a:pt x="13317093" y="0"/>
                </a:lnTo>
                <a:lnTo>
                  <a:pt x="13317093" y="1184052"/>
                </a:lnTo>
                <a:lnTo>
                  <a:pt x="0" y="11840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2528297" y="5835253"/>
            <a:ext cx="770287" cy="1098328"/>
            <a:chOff x="0" y="0"/>
            <a:chExt cx="1027049" cy="146443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7049" cy="1464437"/>
            </a:xfrm>
            <a:custGeom>
              <a:avLst/>
              <a:gdLst/>
              <a:ahLst/>
              <a:cxnLst/>
              <a:rect r="r" b="b" t="t" l="l"/>
              <a:pathLst>
                <a:path h="1464437" w="1027049">
                  <a:moveTo>
                    <a:pt x="0" y="62103"/>
                  </a:moveTo>
                  <a:cubicBezTo>
                    <a:pt x="0" y="27813"/>
                    <a:pt x="27813" y="0"/>
                    <a:pt x="62103" y="0"/>
                  </a:cubicBezTo>
                  <a:lnTo>
                    <a:pt x="964946" y="0"/>
                  </a:lnTo>
                  <a:cubicBezTo>
                    <a:pt x="999236" y="0"/>
                    <a:pt x="1027049" y="27813"/>
                    <a:pt x="1027049" y="62103"/>
                  </a:cubicBezTo>
                  <a:lnTo>
                    <a:pt x="1027049" y="1402334"/>
                  </a:lnTo>
                  <a:cubicBezTo>
                    <a:pt x="1027049" y="1436624"/>
                    <a:pt x="999236" y="1464437"/>
                    <a:pt x="964946" y="1464437"/>
                  </a:cubicBezTo>
                  <a:lnTo>
                    <a:pt x="62103" y="1464437"/>
                  </a:lnTo>
                  <a:cubicBezTo>
                    <a:pt x="27813" y="1464437"/>
                    <a:pt x="0" y="1436624"/>
                    <a:pt x="0" y="1402334"/>
                  </a:cubicBezTo>
                  <a:close/>
                </a:path>
              </a:pathLst>
            </a:custGeom>
            <a:solidFill>
              <a:srgbClr val="101620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2759421" y="6253753"/>
            <a:ext cx="288874" cy="31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2249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429295" y="5932589"/>
            <a:ext cx="2407291" cy="40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Club Profile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429295" y="6419259"/>
            <a:ext cx="12137822" cy="210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5"/>
              </a:lnSpc>
            </a:pPr>
            <a:r>
              <a:rPr lang="en-US" sz="15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Hero banner, about section, exec board display, events tab, recruitment CTA.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2485434" y="7078561"/>
            <a:ext cx="13317093" cy="1184053"/>
          </a:xfrm>
          <a:custGeom>
            <a:avLst/>
            <a:gdLst/>
            <a:ahLst/>
            <a:cxnLst/>
            <a:rect r="r" b="b" t="t" l="l"/>
            <a:pathLst>
              <a:path h="1184053" w="13317093">
                <a:moveTo>
                  <a:pt x="0" y="0"/>
                </a:moveTo>
                <a:lnTo>
                  <a:pt x="13317093" y="0"/>
                </a:lnTo>
                <a:lnTo>
                  <a:pt x="13317093" y="1184053"/>
                </a:lnTo>
                <a:lnTo>
                  <a:pt x="0" y="11840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2528297" y="7121423"/>
            <a:ext cx="770287" cy="1098328"/>
            <a:chOff x="0" y="0"/>
            <a:chExt cx="1027049" cy="146443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7049" cy="1464437"/>
            </a:xfrm>
            <a:custGeom>
              <a:avLst/>
              <a:gdLst/>
              <a:ahLst/>
              <a:cxnLst/>
              <a:rect r="r" b="b" t="t" l="l"/>
              <a:pathLst>
                <a:path h="1464437" w="1027049">
                  <a:moveTo>
                    <a:pt x="0" y="62103"/>
                  </a:moveTo>
                  <a:cubicBezTo>
                    <a:pt x="0" y="27813"/>
                    <a:pt x="27813" y="0"/>
                    <a:pt x="62103" y="0"/>
                  </a:cubicBezTo>
                  <a:lnTo>
                    <a:pt x="964946" y="0"/>
                  </a:lnTo>
                  <a:cubicBezTo>
                    <a:pt x="999236" y="0"/>
                    <a:pt x="1027049" y="27813"/>
                    <a:pt x="1027049" y="62103"/>
                  </a:cubicBezTo>
                  <a:lnTo>
                    <a:pt x="1027049" y="1402334"/>
                  </a:lnTo>
                  <a:cubicBezTo>
                    <a:pt x="1027049" y="1436624"/>
                    <a:pt x="999236" y="1464437"/>
                    <a:pt x="964946" y="1464437"/>
                  </a:cubicBezTo>
                  <a:lnTo>
                    <a:pt x="62103" y="1464437"/>
                  </a:lnTo>
                  <a:cubicBezTo>
                    <a:pt x="27813" y="1464437"/>
                    <a:pt x="0" y="1436624"/>
                    <a:pt x="0" y="1402334"/>
                  </a:cubicBezTo>
                  <a:close/>
                </a:path>
              </a:pathLst>
            </a:custGeom>
            <a:solidFill>
              <a:srgbClr val="101620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2759421" y="7539933"/>
            <a:ext cx="288874" cy="31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2249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429295" y="7218759"/>
            <a:ext cx="2407291" cy="40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Event Calendar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429295" y="7705430"/>
            <a:ext cx="12137822" cy="210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5"/>
              </a:lnSpc>
            </a:pPr>
            <a:r>
              <a:rPr lang="en-US" sz="15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Month / Week / Agenda views, category filters, popover event details, 7 mock events.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2485434" y="8364741"/>
            <a:ext cx="13317093" cy="1184053"/>
          </a:xfrm>
          <a:custGeom>
            <a:avLst/>
            <a:gdLst/>
            <a:ahLst/>
            <a:cxnLst/>
            <a:rect r="r" b="b" t="t" l="l"/>
            <a:pathLst>
              <a:path h="1184053" w="13317093">
                <a:moveTo>
                  <a:pt x="0" y="0"/>
                </a:moveTo>
                <a:lnTo>
                  <a:pt x="13317093" y="0"/>
                </a:lnTo>
                <a:lnTo>
                  <a:pt x="13317093" y="1184052"/>
                </a:lnTo>
                <a:lnTo>
                  <a:pt x="0" y="11840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2528297" y="8407603"/>
            <a:ext cx="770287" cy="1098328"/>
            <a:chOff x="0" y="0"/>
            <a:chExt cx="1027049" cy="146443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7049" cy="1464437"/>
            </a:xfrm>
            <a:custGeom>
              <a:avLst/>
              <a:gdLst/>
              <a:ahLst/>
              <a:cxnLst/>
              <a:rect r="r" b="b" t="t" l="l"/>
              <a:pathLst>
                <a:path h="1464437" w="1027049">
                  <a:moveTo>
                    <a:pt x="0" y="62103"/>
                  </a:moveTo>
                  <a:cubicBezTo>
                    <a:pt x="0" y="27813"/>
                    <a:pt x="27813" y="0"/>
                    <a:pt x="62103" y="0"/>
                  </a:cubicBezTo>
                  <a:lnTo>
                    <a:pt x="964946" y="0"/>
                  </a:lnTo>
                  <a:cubicBezTo>
                    <a:pt x="999236" y="0"/>
                    <a:pt x="1027049" y="27813"/>
                    <a:pt x="1027049" y="62103"/>
                  </a:cubicBezTo>
                  <a:lnTo>
                    <a:pt x="1027049" y="1402334"/>
                  </a:lnTo>
                  <a:cubicBezTo>
                    <a:pt x="1027049" y="1436624"/>
                    <a:pt x="999236" y="1464437"/>
                    <a:pt x="964946" y="1464437"/>
                  </a:cubicBezTo>
                  <a:lnTo>
                    <a:pt x="62103" y="1464437"/>
                  </a:lnTo>
                  <a:cubicBezTo>
                    <a:pt x="27813" y="1464437"/>
                    <a:pt x="0" y="1436624"/>
                    <a:pt x="0" y="1402334"/>
                  </a:cubicBezTo>
                  <a:close/>
                </a:path>
              </a:pathLst>
            </a:custGeom>
            <a:solidFill>
              <a:srgbClr val="101620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2759421" y="8826103"/>
            <a:ext cx="288874" cy="31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2249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6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429295" y="8504930"/>
            <a:ext cx="2725941" cy="40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Recruitment + Settings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429295" y="8991600"/>
            <a:ext cx="12137822" cy="210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5"/>
              </a:lnSpc>
            </a:pPr>
            <a:r>
              <a:rPr lang="en-US" sz="15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4-step apply wizard, application tracker timeline, profile editing, password strength meter.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2936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253065" y="389782"/>
            <a:ext cx="1463612" cy="195262"/>
            <a:chOff x="0" y="0"/>
            <a:chExt cx="1951482" cy="260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1482" cy="260350"/>
            </a:xfrm>
            <a:custGeom>
              <a:avLst/>
              <a:gdLst/>
              <a:ahLst/>
              <a:cxnLst/>
              <a:rect r="r" b="b" t="t" l="l"/>
              <a:pathLst>
                <a:path h="260350" w="1951482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887982" y="0"/>
                  </a:lnTo>
                  <a:cubicBezTo>
                    <a:pt x="1923034" y="0"/>
                    <a:pt x="1951482" y="28448"/>
                    <a:pt x="1951482" y="63500"/>
                  </a:cubicBezTo>
                  <a:lnTo>
                    <a:pt x="1951482" y="196850"/>
                  </a:lnTo>
                  <a:cubicBezTo>
                    <a:pt x="1951482" y="231902"/>
                    <a:pt x="1923034" y="260350"/>
                    <a:pt x="1887982" y="260350"/>
                  </a:cubicBezTo>
                  <a:lnTo>
                    <a:pt x="63500" y="260350"/>
                  </a:lnTo>
                  <a:cubicBezTo>
                    <a:pt x="28448" y="260350"/>
                    <a:pt x="0" y="231902"/>
                    <a:pt x="0" y="196850"/>
                  </a:cubicBezTo>
                  <a:close/>
                </a:path>
              </a:pathLst>
            </a:custGeom>
            <a:solidFill>
              <a:srgbClr val="00194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338047" y="432197"/>
            <a:ext cx="1293609" cy="110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7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LIVE PRODUCT GALLERY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53065" y="499024"/>
            <a:ext cx="3544043" cy="57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Project Showcase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8575" y="1364313"/>
            <a:ext cx="5688120" cy="3939197"/>
            <a:chOff x="0" y="0"/>
            <a:chExt cx="7584161" cy="525226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584186" cy="5252212"/>
            </a:xfrm>
            <a:custGeom>
              <a:avLst/>
              <a:gdLst/>
              <a:ahLst/>
              <a:cxnLst/>
              <a:rect r="r" b="b" t="t" l="l"/>
              <a:pathLst>
                <a:path h="5252212" w="7584186">
                  <a:moveTo>
                    <a:pt x="0" y="0"/>
                  </a:moveTo>
                  <a:lnTo>
                    <a:pt x="7584186" y="0"/>
                  </a:lnTo>
                  <a:lnTo>
                    <a:pt x="7584186" y="5252212"/>
                  </a:lnTo>
                  <a:lnTo>
                    <a:pt x="0" y="5252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397" t="0" r="-11397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719942" y="1527315"/>
            <a:ext cx="5423716" cy="3428248"/>
            <a:chOff x="0" y="0"/>
            <a:chExt cx="7231621" cy="4570997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7231634" cy="4570984"/>
            </a:xfrm>
            <a:custGeom>
              <a:avLst/>
              <a:gdLst/>
              <a:ahLst/>
              <a:cxnLst/>
              <a:rect r="r" b="b" t="t" l="l"/>
              <a:pathLst>
                <a:path h="4570984" w="7231634">
                  <a:moveTo>
                    <a:pt x="0" y="0"/>
                  </a:moveTo>
                  <a:lnTo>
                    <a:pt x="7231634" y="0"/>
                  </a:lnTo>
                  <a:lnTo>
                    <a:pt x="7231634" y="4570984"/>
                  </a:lnTo>
                  <a:lnTo>
                    <a:pt x="0" y="457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038" t="0" r="-6038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5555780"/>
            <a:ext cx="5811612" cy="3728304"/>
            <a:chOff x="0" y="0"/>
            <a:chExt cx="7748816" cy="497107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7748778" cy="4971034"/>
            </a:xfrm>
            <a:custGeom>
              <a:avLst/>
              <a:gdLst/>
              <a:ahLst/>
              <a:cxnLst/>
              <a:rect r="r" b="b" t="t" l="l"/>
              <a:pathLst>
                <a:path h="4971034" w="7748778">
                  <a:moveTo>
                    <a:pt x="0" y="0"/>
                  </a:moveTo>
                  <a:lnTo>
                    <a:pt x="7748778" y="0"/>
                  </a:lnTo>
                  <a:lnTo>
                    <a:pt x="7748778" y="4971034"/>
                  </a:lnTo>
                  <a:lnTo>
                    <a:pt x="0" y="4971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875" t="0" r="-6876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719942" y="5555780"/>
            <a:ext cx="5501364" cy="3728314"/>
            <a:chOff x="0" y="0"/>
            <a:chExt cx="7335152" cy="4971085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7335139" cy="4971034"/>
            </a:xfrm>
            <a:custGeom>
              <a:avLst/>
              <a:gdLst/>
              <a:ahLst/>
              <a:cxnLst/>
              <a:rect r="r" b="b" t="t" l="l"/>
              <a:pathLst>
                <a:path h="4971034" w="7335139">
                  <a:moveTo>
                    <a:pt x="0" y="0"/>
                  </a:moveTo>
                  <a:lnTo>
                    <a:pt x="7335139" y="0"/>
                  </a:lnTo>
                  <a:lnTo>
                    <a:pt x="7335139" y="4971034"/>
                  </a:lnTo>
                  <a:lnTo>
                    <a:pt x="0" y="4971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083" t="0" r="-10083" b="-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650164" y="1513018"/>
            <a:ext cx="5726821" cy="3428238"/>
            <a:chOff x="0" y="0"/>
            <a:chExt cx="7635761" cy="4570984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7635748" cy="4570984"/>
            </a:xfrm>
            <a:custGeom>
              <a:avLst/>
              <a:gdLst/>
              <a:ahLst/>
              <a:cxnLst/>
              <a:rect r="r" b="b" t="t" l="l"/>
              <a:pathLst>
                <a:path h="4570984" w="7635748">
                  <a:moveTo>
                    <a:pt x="0" y="0"/>
                  </a:moveTo>
                  <a:lnTo>
                    <a:pt x="7635748" y="0"/>
                  </a:lnTo>
                  <a:lnTo>
                    <a:pt x="7635748" y="4570984"/>
                  </a:lnTo>
                  <a:lnTo>
                    <a:pt x="0" y="457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072" t="0" r="-3072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4253065" y="10201427"/>
            <a:ext cx="4717999" cy="119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2"/>
              </a:lnSpc>
            </a:pPr>
            <a:r>
              <a:rPr lang="en-US" sz="1062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Recruitment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612064" y="5555780"/>
            <a:ext cx="5726792" cy="3728314"/>
            <a:chOff x="0" y="0"/>
            <a:chExt cx="7635723" cy="4971085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7635748" cy="4971034"/>
            </a:xfrm>
            <a:custGeom>
              <a:avLst/>
              <a:gdLst/>
              <a:ahLst/>
              <a:cxnLst/>
              <a:rect r="r" b="b" t="t" l="l"/>
              <a:pathLst>
                <a:path h="4971034" w="7635748">
                  <a:moveTo>
                    <a:pt x="0" y="0"/>
                  </a:moveTo>
                  <a:lnTo>
                    <a:pt x="7635748" y="0"/>
                  </a:lnTo>
                  <a:lnTo>
                    <a:pt x="7635748" y="4971034"/>
                  </a:lnTo>
                  <a:lnTo>
                    <a:pt x="0" y="4971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18" t="0" r="-7717" b="-1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326461" y="10201427"/>
            <a:ext cx="4717999" cy="119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2"/>
              </a:lnSpc>
            </a:pPr>
            <a:r>
              <a:rPr lang="en-US" sz="1062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Apply Modal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253065" y="10463955"/>
            <a:ext cx="9781889" cy="517303"/>
            <a:chOff x="0" y="0"/>
            <a:chExt cx="13042519" cy="68973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042519" cy="689737"/>
            </a:xfrm>
            <a:custGeom>
              <a:avLst/>
              <a:gdLst/>
              <a:ahLst/>
              <a:cxnLst/>
              <a:rect r="r" b="b" t="t" l="l"/>
              <a:pathLst>
                <a:path h="689737" w="13042519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12963144" y="0"/>
                  </a:lnTo>
                  <a:cubicBezTo>
                    <a:pt x="13006958" y="0"/>
                    <a:pt x="13042519" y="35560"/>
                    <a:pt x="13042519" y="79375"/>
                  </a:cubicBezTo>
                  <a:lnTo>
                    <a:pt x="13042519" y="610362"/>
                  </a:lnTo>
                  <a:cubicBezTo>
                    <a:pt x="13042519" y="654177"/>
                    <a:pt x="13006958" y="689737"/>
                    <a:pt x="12963144" y="689737"/>
                  </a:cubicBezTo>
                  <a:lnTo>
                    <a:pt x="79375" y="689737"/>
                  </a:lnTo>
                  <a:cubicBezTo>
                    <a:pt x="35560" y="689737"/>
                    <a:pt x="0" y="654177"/>
                    <a:pt x="0" y="610362"/>
                  </a:cubicBezTo>
                  <a:close/>
                </a:path>
              </a:pathLst>
            </a:custGeom>
            <a:solidFill>
              <a:srgbClr val="00194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394749" y="10641063"/>
            <a:ext cx="177070" cy="141732"/>
            <a:chOff x="0" y="0"/>
            <a:chExt cx="236093" cy="188976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236093" cy="188976"/>
            </a:xfrm>
            <a:custGeom>
              <a:avLst/>
              <a:gdLst/>
              <a:ahLst/>
              <a:cxnLst/>
              <a:rect r="r" b="b" t="t" l="l"/>
              <a:pathLst>
                <a:path h="188976" w="236093">
                  <a:moveTo>
                    <a:pt x="0" y="0"/>
                  </a:moveTo>
                  <a:lnTo>
                    <a:pt x="236093" y="0"/>
                  </a:lnTo>
                  <a:lnTo>
                    <a:pt x="236093" y="188976"/>
                  </a:lnTo>
                  <a:lnTo>
                    <a:pt x="0" y="188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140" t="0" r="-1135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4713532" y="10589266"/>
            <a:ext cx="9179719" cy="25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2"/>
              </a:lnSpc>
            </a:pPr>
            <a:r>
              <a:rPr lang="en-US" sz="106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📸</a:t>
            </a:r>
            <a:r>
              <a:rPr lang="en-US" sz="106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062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Screenshots</a:t>
            </a:r>
            <a:r>
              <a:rPr lang="en-US" sz="106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of the corresponding app page. Six pages total — Login, Dashboard, Club Directory, Event Calendar, Recruitment Portal, and apply modal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82713" y="1781918"/>
            <a:ext cx="1717929" cy="521970"/>
          </a:xfrm>
          <a:custGeom>
            <a:avLst/>
            <a:gdLst/>
            <a:ahLst/>
            <a:cxnLst/>
            <a:rect r="r" b="b" t="t" l="l"/>
            <a:pathLst>
              <a:path h="521970" w="1717929">
                <a:moveTo>
                  <a:pt x="0" y="0"/>
                </a:moveTo>
                <a:lnTo>
                  <a:pt x="1717929" y="0"/>
                </a:lnTo>
                <a:lnTo>
                  <a:pt x="1717929" y="521970"/>
                </a:lnTo>
                <a:lnTo>
                  <a:pt x="0" y="5219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81395" y="1800225"/>
            <a:ext cx="1320556" cy="390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750">
                <a:solidFill>
                  <a:srgbClr val="6296FF"/>
                </a:solidFill>
                <a:latin typeface="Arimo"/>
                <a:ea typeface="Arimo"/>
                <a:cs typeface="Arimo"/>
                <a:sym typeface="Arimo"/>
              </a:rPr>
              <a:t>TECH STACK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2236289"/>
            <a:ext cx="14017828" cy="109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9"/>
              </a:lnSpc>
            </a:pPr>
            <a:r>
              <a:rPr lang="en-US" sz="5562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Built on a Modern, Type-Safe Foundation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992238" y="3754336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999" t="0" r="-600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55314" y="3640036"/>
            <a:ext cx="4035628" cy="57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Next.js 15 + App Router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55314" y="4308872"/>
            <a:ext cx="6911426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File-based routing and server components for fast, scalable page architecture.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321108" y="3754336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2000" t="0" r="-11999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384184" y="3640036"/>
            <a:ext cx="3764309" cy="57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React 19 + TypeScript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84184" y="4308872"/>
            <a:ext cx="6911578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Type-safe component architecture eliminating runtime errors before they happen.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92238" y="5689102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6666" r="0" b="-1666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055314" y="5574802"/>
            <a:ext cx="4353668" cy="57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Tailwind CSS + shadcn/ui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55314" y="6243638"/>
            <a:ext cx="6911426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Utility-first styling paired with accessible, headless Radix UI primitives.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9321108" y="5689102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384184" y="5574802"/>
            <a:ext cx="4365422" cy="57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Syne + Plus Jakarta Sans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84184" y="6243638"/>
            <a:ext cx="6911578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Syne for bold display headings, Plus Jakarta Sans for clean, readable body text.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238" y="7375769"/>
            <a:ext cx="16303466" cy="1119568"/>
            <a:chOff x="0" y="0"/>
            <a:chExt cx="21737955" cy="14927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37955" cy="1492758"/>
            </a:xfrm>
            <a:custGeom>
              <a:avLst/>
              <a:gdLst/>
              <a:ahLst/>
              <a:cxnLst/>
              <a:rect r="r" b="b" t="t" l="l"/>
              <a:pathLst>
                <a:path h="1492758" w="2173795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1334008"/>
                  </a:lnTo>
                  <a:cubicBezTo>
                    <a:pt x="21737955" y="1421638"/>
                    <a:pt x="21666836" y="1492758"/>
                    <a:pt x="21579205" y="1492758"/>
                  </a:cubicBezTo>
                  <a:lnTo>
                    <a:pt x="158750" y="1492758"/>
                  </a:lnTo>
                  <a:cubicBezTo>
                    <a:pt x="71120" y="1492758"/>
                    <a:pt x="0" y="1421638"/>
                    <a:pt x="0" y="1334008"/>
                  </a:cubicBezTo>
                  <a:close/>
                </a:path>
              </a:pathLst>
            </a:custGeom>
            <a:solidFill>
              <a:srgbClr val="00194D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75759" y="7758265"/>
            <a:ext cx="354330" cy="283559"/>
            <a:chOff x="0" y="0"/>
            <a:chExt cx="472440" cy="378079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6" t="0" r="-16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913630" y="7653928"/>
            <a:ext cx="15098611" cy="44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Planned (not yet implemented):</a:t>
            </a: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Neon Postgres · Drizzle ORM · NextAuth v5 · Resend Email · Zod Validation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82713" y="1004145"/>
            <a:ext cx="2117884" cy="521970"/>
          </a:xfrm>
          <a:custGeom>
            <a:avLst/>
            <a:gdLst/>
            <a:ahLst/>
            <a:cxnLst/>
            <a:rect r="r" b="b" t="t" l="l"/>
            <a:pathLst>
              <a:path h="521970" w="2117884">
                <a:moveTo>
                  <a:pt x="0" y="0"/>
                </a:moveTo>
                <a:lnTo>
                  <a:pt x="2117884" y="0"/>
                </a:lnTo>
                <a:lnTo>
                  <a:pt x="2117884" y="521970"/>
                </a:lnTo>
                <a:lnTo>
                  <a:pt x="0" y="5219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81395" y="1022452"/>
            <a:ext cx="1720453" cy="390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750">
                <a:solidFill>
                  <a:srgbClr val="6296FF"/>
                </a:solidFill>
                <a:latin typeface="Arimo"/>
                <a:ea typeface="Arimo"/>
                <a:cs typeface="Arimo"/>
                <a:sym typeface="Arimo"/>
              </a:rPr>
              <a:t>DESIGN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1458516"/>
            <a:ext cx="15895139" cy="109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9"/>
              </a:lnSpc>
            </a:pPr>
            <a:r>
              <a:rPr lang="en-US" sz="5562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A Consistent Visual Language, Token to Token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8041" y="2976562"/>
            <a:ext cx="7364444" cy="6296787"/>
            <a:chOff x="0" y="0"/>
            <a:chExt cx="9819259" cy="83957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19259" cy="8395716"/>
            </a:xfrm>
            <a:custGeom>
              <a:avLst/>
              <a:gdLst/>
              <a:ahLst/>
              <a:cxnLst/>
              <a:rect r="r" b="b" t="t" l="l"/>
              <a:pathLst>
                <a:path h="8395716" w="9819259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9547098" y="0"/>
                  </a:lnTo>
                  <a:cubicBezTo>
                    <a:pt x="9697466" y="0"/>
                    <a:pt x="9819259" y="121920"/>
                    <a:pt x="9819259" y="272161"/>
                  </a:cubicBezTo>
                  <a:lnTo>
                    <a:pt x="9819259" y="8123555"/>
                  </a:lnTo>
                  <a:cubicBezTo>
                    <a:pt x="9819259" y="8273924"/>
                    <a:pt x="9697339" y="8395716"/>
                    <a:pt x="9547098" y="8395716"/>
                  </a:cubicBezTo>
                  <a:lnTo>
                    <a:pt x="272161" y="8395716"/>
                  </a:lnTo>
                  <a:cubicBezTo>
                    <a:pt x="121920" y="8395716"/>
                    <a:pt x="0" y="8273796"/>
                    <a:pt x="0" y="8123555"/>
                  </a:cubicBezTo>
                  <a:close/>
                </a:path>
              </a:pathLst>
            </a:custGeom>
            <a:solidFill>
              <a:srgbClr val="0D0326">
                <a:alpha val="81176"/>
              </a:srgbClr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71562" y="3145784"/>
            <a:ext cx="3544043" cy="57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Color Tokens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1562" y="3928024"/>
            <a:ext cx="6797431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 b="true">
                <a:solidFill>
                  <a:srgbClr val="2DC7A0"/>
                </a:solidFill>
                <a:latin typeface="Arimo Bold"/>
                <a:ea typeface="Arimo Bold"/>
                <a:cs typeface="Arimo Bold"/>
                <a:sym typeface="Arimo Bold"/>
              </a:rPr>
              <a:t>■ #2DC7A0 Teal/Cyan</a:t>
            </a: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— Primary CTAs, active nav, badges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1562" y="4920110"/>
            <a:ext cx="6797431" cy="44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 b="true">
                <a:solidFill>
                  <a:srgbClr val="97B8FF"/>
                </a:solidFill>
                <a:latin typeface="Arimo Bold"/>
                <a:ea typeface="Arimo Bold"/>
                <a:cs typeface="Arimo Bold"/>
                <a:sym typeface="Arimo Bold"/>
              </a:rPr>
              <a:t>■ #97B8FF Periwinkle</a:t>
            </a: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— Secondary accents, icons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1562" y="5543702"/>
            <a:ext cx="6797431" cy="44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■ #0D0326 Deep Navy</a:t>
            </a: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— Main page backgrounds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1562" y="6167285"/>
            <a:ext cx="6797431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■ #120336 Dark Surface</a:t>
            </a: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— Sidebar and card backgrounds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1562" y="7159381"/>
            <a:ext cx="6797431" cy="44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■ Amber</a:t>
            </a: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— Urgent deadline badges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71562" y="8064741"/>
            <a:ext cx="6797421" cy="44958"/>
            <a:chOff x="0" y="0"/>
            <a:chExt cx="9063228" cy="599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63228" cy="59944"/>
            </a:xfrm>
            <a:custGeom>
              <a:avLst/>
              <a:gdLst/>
              <a:ahLst/>
              <a:cxnLst/>
              <a:rect r="r" b="b" t="t" l="l"/>
              <a:pathLst>
                <a:path h="59944" w="9063228">
                  <a:moveTo>
                    <a:pt x="0" y="0"/>
                  </a:moveTo>
                  <a:lnTo>
                    <a:pt x="9063228" y="0"/>
                  </a:lnTo>
                  <a:lnTo>
                    <a:pt x="9063228" y="59944"/>
                  </a:lnTo>
                  <a:lnTo>
                    <a:pt x="0" y="59944"/>
                  </a:lnTo>
                  <a:close/>
                </a:path>
              </a:pathLst>
            </a:custGeom>
            <a:solidFill>
              <a:srgbClr val="EBEDF0">
                <a:alpha val="5882"/>
              </a:srgbClr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71562" y="8333337"/>
            <a:ext cx="6797431" cy="68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75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Status:</a:t>
            </a:r>
            <a:r>
              <a:rPr lang="en-US" sz="175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Green (Accepted) · Orange (Interview) · Red (Rejected) · Gray (Pending)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49595" y="3145784"/>
            <a:ext cx="3544043" cy="57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Typography System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630545" y="4020588"/>
            <a:ext cx="4223956" cy="3360134"/>
          </a:xfrm>
          <a:custGeom>
            <a:avLst/>
            <a:gdLst/>
            <a:ahLst/>
            <a:cxnLst/>
            <a:rect r="r" b="b" t="t" l="l"/>
            <a:pathLst>
              <a:path h="3360134" w="4223956">
                <a:moveTo>
                  <a:pt x="0" y="0"/>
                </a:moveTo>
                <a:lnTo>
                  <a:pt x="4223957" y="0"/>
                </a:lnTo>
                <a:lnTo>
                  <a:pt x="4223957" y="3360134"/>
                </a:lnTo>
                <a:lnTo>
                  <a:pt x="0" y="3360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611495" y="4039638"/>
            <a:ext cx="152400" cy="3322034"/>
            <a:chOff x="0" y="0"/>
            <a:chExt cx="203200" cy="4429379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203200" cy="4429379"/>
            </a:xfrm>
            <a:custGeom>
              <a:avLst/>
              <a:gdLst/>
              <a:ahLst/>
              <a:cxnLst/>
              <a:rect r="r" b="b" t="t" l="l"/>
              <a:pathLst>
                <a:path h="4429379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4429379"/>
                  </a:lnTo>
                  <a:lnTo>
                    <a:pt x="0" y="4429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025" t="0" r="-2024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085507" y="4246959"/>
            <a:ext cx="3428409" cy="103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Syne — Display &amp; Headings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85507" y="5489819"/>
            <a:ext cx="3428409" cy="155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Bold, geometric. Used for hero titles, section headers, and nav branding.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3099999" y="4020588"/>
            <a:ext cx="4224147" cy="3360134"/>
          </a:xfrm>
          <a:custGeom>
            <a:avLst/>
            <a:gdLst/>
            <a:ahLst/>
            <a:cxnLst/>
            <a:rect r="r" b="b" t="t" l="l"/>
            <a:pathLst>
              <a:path h="3360134" w="4224147">
                <a:moveTo>
                  <a:pt x="0" y="0"/>
                </a:moveTo>
                <a:lnTo>
                  <a:pt x="4224147" y="0"/>
                </a:lnTo>
                <a:lnTo>
                  <a:pt x="4224147" y="3360134"/>
                </a:lnTo>
                <a:lnTo>
                  <a:pt x="0" y="33601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3080949" y="4039638"/>
            <a:ext cx="152400" cy="3322034"/>
            <a:chOff x="0" y="0"/>
            <a:chExt cx="203200" cy="4429379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203200" cy="4429379"/>
            </a:xfrm>
            <a:custGeom>
              <a:avLst/>
              <a:gdLst/>
              <a:ahLst/>
              <a:cxnLst/>
              <a:rect r="r" b="b" t="t" l="l"/>
              <a:pathLst>
                <a:path h="4429379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4429379"/>
                  </a:lnTo>
                  <a:lnTo>
                    <a:pt x="0" y="4429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025" t="0" r="-2024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3554970" y="4246959"/>
            <a:ext cx="3428552" cy="103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Plus Jakarta Sans — Body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54970" y="5489819"/>
            <a:ext cx="3428552" cy="1181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Clean, humanist. Used for paragraphs, labels, form fields, and descriptions.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649595" y="7604369"/>
            <a:ext cx="8655548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Consistent border-radius, spacing scale, and shadow tokens applied across every component for visual cohesion.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38508" y="1097013"/>
            <a:ext cx="2229898" cy="426339"/>
          </a:xfrm>
          <a:custGeom>
            <a:avLst/>
            <a:gdLst/>
            <a:ahLst/>
            <a:cxnLst/>
            <a:rect r="r" b="b" t="t" l="l"/>
            <a:pathLst>
              <a:path h="426339" w="2229898">
                <a:moveTo>
                  <a:pt x="0" y="0"/>
                </a:moveTo>
                <a:lnTo>
                  <a:pt x="2229898" y="0"/>
                </a:lnTo>
                <a:lnTo>
                  <a:pt x="2229898" y="426339"/>
                </a:lnTo>
                <a:lnTo>
                  <a:pt x="0" y="4263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09510" y="1168156"/>
            <a:ext cx="1887884" cy="255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437">
                <a:solidFill>
                  <a:srgbClr val="6296FF"/>
                </a:solidFill>
                <a:latin typeface="Arimo"/>
                <a:ea typeface="Arimo"/>
                <a:cs typeface="Arimo"/>
                <a:sym typeface="Arimo"/>
              </a:rPr>
              <a:t>PROGRESS TRACKER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8033" y="1440952"/>
            <a:ext cx="7022602" cy="92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625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What's New vs. Update 1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43270" y="2659266"/>
            <a:ext cx="16401288" cy="6525768"/>
          </a:xfrm>
          <a:custGeom>
            <a:avLst/>
            <a:gdLst/>
            <a:ahLst/>
            <a:cxnLst/>
            <a:rect r="r" b="b" t="t" l="l"/>
            <a:pathLst>
              <a:path h="6525768" w="16401288">
                <a:moveTo>
                  <a:pt x="0" y="0"/>
                </a:moveTo>
                <a:lnTo>
                  <a:pt x="16401288" y="0"/>
                </a:lnTo>
                <a:lnTo>
                  <a:pt x="16401288" y="6525768"/>
                </a:lnTo>
                <a:lnTo>
                  <a:pt x="0" y="65257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95388" y="2764336"/>
            <a:ext cx="443195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Feature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11926" y="2764336"/>
            <a:ext cx="5245741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Update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42252" y="2764336"/>
            <a:ext cx="525050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Update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5388" y="3305766"/>
            <a:ext cx="443195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Framework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11926" y="3305766"/>
            <a:ext cx="5245741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React + Vite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42252" y="3305766"/>
            <a:ext cx="525050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Next.js 15 App Router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5388" y="3847205"/>
            <a:ext cx="443195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Language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11926" y="3847205"/>
            <a:ext cx="5245741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JavaScript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42252" y="3847205"/>
            <a:ext cx="525050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TypeScript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5388" y="4388644"/>
            <a:ext cx="443195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UI Library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11926" y="4388644"/>
            <a:ext cx="5245741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Custom CSS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42252" y="4388644"/>
            <a:ext cx="525050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shadcn/ui + Tailwind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5388" y="4930083"/>
            <a:ext cx="443195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Design System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11926" y="4930083"/>
            <a:ext cx="5245741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None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842252" y="4930083"/>
            <a:ext cx="525050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Full token system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5388" y="5471522"/>
            <a:ext cx="443195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Login Page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11926" y="5471522"/>
            <a:ext cx="5245741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Basic form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42252" y="5471522"/>
            <a:ext cx="525050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Split hero layout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5388" y="6012952"/>
            <a:ext cx="443195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Dashboard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111926" y="6012952"/>
            <a:ext cx="5245741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Plain cards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42252" y="6012952"/>
            <a:ext cx="525050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Stats + announcements + sidebar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5388" y="6554391"/>
            <a:ext cx="443195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Club Directory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111926" y="6554391"/>
            <a:ext cx="5245741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Flat list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842252" y="6554391"/>
            <a:ext cx="525050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Search + filters + shimmer skeletons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5388" y="7095830"/>
            <a:ext cx="443195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Club Profile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111926" y="7095830"/>
            <a:ext cx="5245741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Not present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842252" y="7095830"/>
            <a:ext cx="525050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Full hero + exec board + events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95388" y="7637259"/>
            <a:ext cx="443195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Apply Flow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111926" y="7637259"/>
            <a:ext cx="5245741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Not present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42252" y="7637259"/>
            <a:ext cx="525050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4-step wizard with validation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95388" y="8178698"/>
            <a:ext cx="443195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Notifications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111926" y="8178698"/>
            <a:ext cx="5245741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Not present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842252" y="8178698"/>
            <a:ext cx="525050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Sheet-based panel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95388" y="8720138"/>
            <a:ext cx="443195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Settings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111926" y="8720138"/>
            <a:ext cx="5245741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Not present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842252" y="8720138"/>
            <a:ext cx="5250504" cy="32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Profile + password + notifications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117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53906" y="604542"/>
            <a:ext cx="1189863" cy="397002"/>
          </a:xfrm>
          <a:custGeom>
            <a:avLst/>
            <a:gdLst/>
            <a:ahLst/>
            <a:cxnLst/>
            <a:rect r="r" b="b" t="t" l="l"/>
            <a:pathLst>
              <a:path h="397002" w="1189863">
                <a:moveTo>
                  <a:pt x="0" y="0"/>
                </a:moveTo>
                <a:lnTo>
                  <a:pt x="1189863" y="0"/>
                </a:lnTo>
                <a:lnTo>
                  <a:pt x="1189863" y="397002"/>
                </a:lnTo>
                <a:lnTo>
                  <a:pt x="0" y="39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5973" y="661692"/>
            <a:ext cx="865737" cy="24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375">
                <a:solidFill>
                  <a:srgbClr val="6296FF"/>
                </a:solidFill>
                <a:latin typeface="Arimo"/>
                <a:ea typeface="Arimo"/>
                <a:cs typeface="Arimo"/>
                <a:sym typeface="Arimo"/>
              </a:rPr>
              <a:t>ROADMAP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3431" y="947585"/>
            <a:ext cx="9576349" cy="83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7"/>
              </a:lnSpc>
            </a:pPr>
            <a:r>
              <a:rPr lang="en-US" sz="4375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What's Next — Backend Integration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3431" y="2047580"/>
            <a:ext cx="15360968" cy="6912293"/>
            <a:chOff x="0" y="0"/>
            <a:chExt cx="20481290" cy="921639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20481289" cy="9216390"/>
            </a:xfrm>
            <a:custGeom>
              <a:avLst/>
              <a:gdLst/>
              <a:ahLst/>
              <a:cxnLst/>
              <a:rect r="r" b="b" t="t" l="l"/>
              <a:pathLst>
                <a:path h="9216390" w="20481289">
                  <a:moveTo>
                    <a:pt x="0" y="0"/>
                  </a:moveTo>
                  <a:lnTo>
                    <a:pt x="20481289" y="0"/>
                  </a:lnTo>
                  <a:lnTo>
                    <a:pt x="20481289" y="9216390"/>
                  </a:lnTo>
                  <a:lnTo>
                    <a:pt x="0" y="9216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6" r="0" b="-4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777367" y="2137772"/>
            <a:ext cx="2688126" cy="50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561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Database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77367" y="2764145"/>
            <a:ext cx="2688126" cy="889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206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Neon Postgres + Drizzle ORM for type-safe cloud data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4831109" y="4217832"/>
            <a:ext cx="595408" cy="595408"/>
          </a:xfrm>
          <a:custGeom>
            <a:avLst/>
            <a:gdLst/>
            <a:ahLst/>
            <a:cxnLst/>
            <a:rect r="r" b="b" t="t" l="l"/>
            <a:pathLst>
              <a:path h="595408" w="595408">
                <a:moveTo>
                  <a:pt x="0" y="0"/>
                </a:moveTo>
                <a:lnTo>
                  <a:pt x="595407" y="0"/>
                </a:lnTo>
                <a:lnTo>
                  <a:pt x="595407" y="595408"/>
                </a:lnTo>
                <a:lnTo>
                  <a:pt x="0" y="5954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142" r="0" b="-714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435957" y="7322010"/>
            <a:ext cx="2702900" cy="50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561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Authentication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35957" y="7948393"/>
            <a:ext cx="2702900" cy="889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206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NextAuth v5 with NSU email and role-based access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7489698" y="6389008"/>
            <a:ext cx="595408" cy="595408"/>
          </a:xfrm>
          <a:custGeom>
            <a:avLst/>
            <a:gdLst/>
            <a:ahLst/>
            <a:cxnLst/>
            <a:rect r="r" b="b" t="t" l="l"/>
            <a:pathLst>
              <a:path h="595408" w="595408">
                <a:moveTo>
                  <a:pt x="0" y="0"/>
                </a:moveTo>
                <a:lnTo>
                  <a:pt x="595408" y="0"/>
                </a:lnTo>
                <a:lnTo>
                  <a:pt x="595408" y="595408"/>
                </a:lnTo>
                <a:lnTo>
                  <a:pt x="0" y="595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142" r="0" b="-714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065000" y="2086070"/>
            <a:ext cx="2688126" cy="50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561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Communication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65000" y="2712453"/>
            <a:ext cx="2688126" cy="889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206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Resend transactional emails for updates and alerts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10163051" y="4158748"/>
            <a:ext cx="595408" cy="595408"/>
          </a:xfrm>
          <a:custGeom>
            <a:avLst/>
            <a:gdLst/>
            <a:ahLst/>
            <a:cxnLst/>
            <a:rect r="r" b="b" t="t" l="l"/>
            <a:pathLst>
              <a:path h="595408" w="595408">
                <a:moveTo>
                  <a:pt x="0" y="0"/>
                </a:moveTo>
                <a:lnTo>
                  <a:pt x="595408" y="0"/>
                </a:lnTo>
                <a:lnTo>
                  <a:pt x="595408" y="595408"/>
                </a:lnTo>
                <a:lnTo>
                  <a:pt x="0" y="5954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6349" t="0" r="-6349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723589" y="7322010"/>
            <a:ext cx="2688126" cy="50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561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Validation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23589" y="7948393"/>
            <a:ext cx="2688126" cy="889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sz="206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Zod runtime validation for forms and APIs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12777330" y="6389008"/>
            <a:ext cx="595408" cy="595408"/>
          </a:xfrm>
          <a:custGeom>
            <a:avLst/>
            <a:gdLst/>
            <a:ahLst/>
            <a:cxnLst/>
            <a:rect r="r" b="b" t="t" l="l"/>
            <a:pathLst>
              <a:path h="595408" w="595408">
                <a:moveTo>
                  <a:pt x="0" y="0"/>
                </a:moveTo>
                <a:lnTo>
                  <a:pt x="595408" y="0"/>
                </a:lnTo>
                <a:lnTo>
                  <a:pt x="595408" y="595408"/>
                </a:lnTo>
                <a:lnTo>
                  <a:pt x="0" y="5954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63431" y="9118397"/>
            <a:ext cx="15360996" cy="55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75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The goal is to evolve NSU ClubHub from a polished UI prototype into a </a:t>
            </a:r>
            <a:r>
              <a:rPr lang="en-US" sz="175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fully functional, production-ready platform</a:t>
            </a:r>
            <a:r>
              <a:rPr lang="en-US" sz="175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for every student at North South University — with real authentication, live data, and automated notifications powering the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DAHCu6kPpo4</dc:identifier>
  <dcterms:modified xsi:type="dcterms:W3CDTF">2011-08-01T06:04:30Z</dcterms:modified>
  <cp:revision>1</cp:revision>
  <dc:title>Project-Update-2.pptx</dc:title>
</cp:coreProperties>
</file>